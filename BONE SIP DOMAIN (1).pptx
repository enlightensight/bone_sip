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8" r:id="rId2"/>
    <p:sldId id="289" r:id="rId3"/>
    <p:sldId id="261" r:id="rId4"/>
    <p:sldId id="270" r:id="rId5"/>
    <p:sldId id="283" r:id="rId6"/>
    <p:sldId id="272" r:id="rId7"/>
    <p:sldId id="273" r:id="rId8"/>
    <p:sldId id="274" r:id="rId9"/>
    <p:sldId id="285" r:id="rId10"/>
    <p:sldId id="275" r:id="rId11"/>
    <p:sldId id="277" r:id="rId12"/>
    <p:sldId id="286" r:id="rId13"/>
    <p:sldId id="287" r:id="rId14"/>
    <p:sldId id="282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 showGuides="1">
      <p:cViewPr varScale="1">
        <p:scale>
          <a:sx n="84" d="100"/>
          <a:sy n="84" d="100"/>
        </p:scale>
        <p:origin x="216" y="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165BE-CCBA-4649-9F11-25E14021FD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6B197D-4074-40CB-AE0B-9542A6A3C4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4F8EFF-69C6-45B1-84F9-F2A054DB5D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4955DF-5EF4-4EF8-A813-C0999BB5F31A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817680-DD6B-45A2-89F3-FFDEDB1A43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AC891C-0965-4796-95DA-614268EC6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D9F7E-9D02-448B-AF2E-2A7A2873A7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71263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4E27A-C8CB-4617-B131-02B5D425D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D16818-78BA-4477-99EF-202A1806CC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4D8F64-899C-4257-B6B7-1F10A3774C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4955DF-5EF4-4EF8-A813-C0999BB5F31A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D938CC-91DD-418F-A4CE-9FFBE3357D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54EF02-75C0-4C50-8312-E1E9811D1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D9F7E-9D02-448B-AF2E-2A7A2873A7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13833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5C7C70-310A-428B-9E78-746EE75D10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D63143-53EB-42A5-8CAD-102CBC31BF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AD97C9-AA4D-48C4-9DFC-D8F2B95CE1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4955DF-5EF4-4EF8-A813-C0999BB5F31A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8010BF-932F-4069-8641-529BA09F6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7083D4-2F8A-4AF8-9A45-D88F4C475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D9F7E-9D02-448B-AF2E-2A7A2873A7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70133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7A11C4-FEA0-4910-AC62-5F5FE3265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564421-9637-4648-BE86-5073989663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881173-49C5-4063-BE69-EE5145ED68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B6C822-176F-4E4A-83B7-2E2ECA9B5C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4955DF-5EF4-4EF8-A813-C0999BB5F31A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F43CE4-A761-4D82-B51C-4A8534F88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24C81C-583A-47A0-89D8-A763486E3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D9F7E-9D02-448B-AF2E-2A7A2873A7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39474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1CC3D-75C9-41D0-9F75-28462377DA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D4209B-A0FD-41EF-9D8F-8E34E2B778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80BB74-6535-43D1-825E-9D94E06605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F292B9-3BEC-41B7-A6BD-65EAC7745C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C6FC011-620E-4B38-9656-AD8A978366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633562C-68E9-47C1-A595-3B68B70CF0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4955DF-5EF4-4EF8-A813-C0999BB5F31A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DE7A8D-255C-42F6-BFEA-D3298502B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D3E0FE3-9FD8-4372-81E7-21C90E18D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D9F7E-9D02-448B-AF2E-2A7A2873A7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31391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4BD7FD-D5BC-4A3F-9DB2-372F42C2D0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8576D3-1BB0-4421-AEE8-39FA7AAE68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4955DF-5EF4-4EF8-A813-C0999BB5F31A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CE8D4D-B8BC-4D13-B9E6-F28B12697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810C3A-B50E-477A-AEFD-6F67FB55D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D9F7E-9D02-448B-AF2E-2A7A2873A7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4693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3240B32-78FF-4DBF-AC8A-B0836B9C16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4955DF-5EF4-4EF8-A813-C0999BB5F31A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798B916-60C9-40F3-8C0F-7F08F9051D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AF3DFD-CF7B-4825-A4FE-7C431CCDB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D9F7E-9D02-448B-AF2E-2A7A2873A7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55402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091FC-801C-4F7E-8D67-53FBC5E6C1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C1D5B0-6852-4CD5-949C-8D6744A5BE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40666A-5C59-4388-918F-0E46CAC09A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C342DA-5BE1-4475-9DCB-035C51475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4955DF-5EF4-4EF8-A813-C0999BB5F31A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B0E704-ABB5-49E9-A2D5-A0E437BEF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B16580-ACD1-4C8E-A630-01EAC2BBC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D9F7E-9D02-448B-AF2E-2A7A2873A7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51863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69F120-EB88-4510-97CC-9977079698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7009491-B466-4ABC-BFE4-53CF0BE1C4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D974ED-B084-4DAA-BD1D-C089AE6073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1C1981-BD7A-40B5-834C-7F536F1CBD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4955DF-5EF4-4EF8-A813-C0999BB5F31A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5F8432-161B-4200-B78E-E1AFA423E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492B94-B3B3-4FBD-B3B6-BCB98D8A6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D9F7E-9D02-448B-AF2E-2A7A2873A7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25540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098E36-48DE-4886-9BE4-90BF3B80A8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8E77D4-498C-4286-85D0-54F2A7E4B0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4E5397-6A79-4D92-97BD-44287B8B26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4955DF-5EF4-4EF8-A813-C0999BB5F31A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BF91BA-7701-4DB9-A2FA-7081A8DE4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9F1C36-9EF0-4110-85F8-08BDAF5AB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D9F7E-9D02-448B-AF2E-2A7A2873A7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68057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7EC8A3A-6553-4D63-8256-B38B7D13AC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0EC163-DC9B-4C94-A42D-2CB3948CAC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BE96E5-8F65-4A30-97EC-5AD2A23D9B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4955DF-5EF4-4EF8-A813-C0999BB5F31A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F1E0C9-647D-4C18-A420-2FA64CBA3E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EC4EEB-6937-483C-AB71-D1CFC4A3A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D9F7E-9D02-448B-AF2E-2A7A2873A7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70476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2186E8-76A8-4654-94DA-4C6B36EF53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54EA85-32B2-4C42-8E04-E92A0D6A0E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694B8F-165A-44C8-85AE-A9CC11392E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4955DF-5EF4-4EF8-A813-C0999BB5F31A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C3CF4B-BE26-4C62-BDD3-5CE82423BC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9340DB-073B-4EB7-B23F-CADC314FE0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1D9F7E-9D02-448B-AF2E-2A7A2873A7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47020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ABFBE66-D325-4385-B35B-76EBBD6909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2545877"/>
              </p:ext>
            </p:extLst>
          </p:nvPr>
        </p:nvGraphicFramePr>
        <p:xfrm>
          <a:off x="327212" y="502920"/>
          <a:ext cx="11457118" cy="3291840"/>
        </p:xfrm>
        <a:graphic>
          <a:graphicData uri="http://schemas.openxmlformats.org/drawingml/2006/table">
            <a:tbl>
              <a:tblPr/>
              <a:tblGrid>
                <a:gridCol w="11457118">
                  <a:extLst>
                    <a:ext uri="{9D8B030D-6E8A-4147-A177-3AD203B41FA5}">
                      <a16:colId xmlns:a16="http://schemas.microsoft.com/office/drawing/2014/main" val="397096244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>
                        <a:lnSpc>
                          <a:spcPct val="150000"/>
                        </a:lnSpc>
                      </a:pPr>
                      <a:r>
                        <a:rPr lang="en-US" sz="2000" b="1" i="0" dirty="0">
                          <a:effectLst/>
                          <a:latin typeface="Segoe UI" panose="020B0502040204020203" pitchFamily="34" charset="0"/>
                        </a:rPr>
                        <a:t>What would you never want to lose?</a:t>
                      </a:r>
                      <a:endParaRPr lang="en-US" sz="2000" b="0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ct val="150000"/>
                        </a:lnSpc>
                      </a:pPr>
                      <a:r>
                        <a:rPr lang="en-US" sz="2000" b="0" i="0" dirty="0">
                          <a:effectLst/>
                          <a:latin typeface="Segoe UI" panose="020B0502040204020203" pitchFamily="34" charset="0"/>
                        </a:rPr>
                        <a:t>☐ Freedom to Travel</a:t>
                      </a:r>
                      <a:br>
                        <a:rPr lang="en-US" sz="2000" b="0" i="0" dirty="0">
                          <a:effectLst/>
                          <a:latin typeface="Segoe UI" panose="020B0502040204020203" pitchFamily="34" charset="0"/>
                        </a:rPr>
                      </a:br>
                      <a:r>
                        <a:rPr lang="en-US" sz="2000" b="0" i="0" dirty="0">
                          <a:effectLst/>
                          <a:latin typeface="Segoe UI" panose="020B0502040204020203" pitchFamily="34" charset="0"/>
                        </a:rPr>
                        <a:t>☐ Independence in Daily Life</a:t>
                      </a:r>
                      <a:br>
                        <a:rPr lang="en-US" sz="2000" b="0" i="0" dirty="0">
                          <a:effectLst/>
                          <a:latin typeface="Segoe UI" panose="020B0502040204020203" pitchFamily="34" charset="0"/>
                        </a:rPr>
                      </a:br>
                      <a:r>
                        <a:rPr lang="en-US" sz="2000" b="0" i="0" dirty="0">
                          <a:effectLst/>
                          <a:latin typeface="Segoe UI" panose="020B0502040204020203" pitchFamily="34" charset="0"/>
                        </a:rPr>
                        <a:t>☐ Time with Family &amp; Friends</a:t>
                      </a:r>
                      <a:br>
                        <a:rPr lang="en-US" sz="2000" b="0" i="0" dirty="0">
                          <a:effectLst/>
                          <a:latin typeface="Segoe UI" panose="020B0502040204020203" pitchFamily="34" charset="0"/>
                        </a:rPr>
                      </a:br>
                      <a:r>
                        <a:rPr lang="en-US" sz="2000" b="0" i="0" dirty="0">
                          <a:effectLst/>
                          <a:latin typeface="Segoe UI" panose="020B0502040204020203" pitchFamily="34" charset="0"/>
                        </a:rPr>
                        <a:t>☐ Active Lifestyle</a:t>
                      </a:r>
                      <a:br>
                        <a:rPr lang="en-US" sz="2000" b="0" i="0" dirty="0">
                          <a:effectLst/>
                          <a:latin typeface="Segoe UI" panose="020B0502040204020203" pitchFamily="34" charset="0"/>
                        </a:rPr>
                      </a:br>
                      <a:r>
                        <a:rPr lang="en-US" sz="2000" b="0" i="0" dirty="0">
                          <a:effectLst/>
                          <a:latin typeface="Segoe UI" panose="020B0502040204020203" pitchFamily="34" charset="0"/>
                        </a:rPr>
                        <a:t>☐ Confidence to Move Freely</a:t>
                      </a:r>
                      <a:br>
                        <a:rPr lang="en-US" sz="2000" b="0" i="0" dirty="0">
                          <a:effectLst/>
                          <a:latin typeface="Segoe UI" panose="020B0502040204020203" pitchFamily="34" charset="0"/>
                        </a:rPr>
                      </a:br>
                      <a:r>
                        <a:rPr lang="en-US" sz="2000" b="0" i="0" dirty="0">
                          <a:effectLst/>
                          <a:latin typeface="Segoe UI" panose="020B0502040204020203" pitchFamily="34" charset="0"/>
                        </a:rPr>
                        <a:t>☐ Quality of Life</a:t>
                      </a:r>
                    </a:p>
                  </a:txBody>
                  <a:tcPr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4876587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162DA55-41D0-4A91-B184-09ABDAE78B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9862588"/>
              </p:ext>
            </p:extLst>
          </p:nvPr>
        </p:nvGraphicFramePr>
        <p:xfrm>
          <a:off x="327212" y="5004444"/>
          <a:ext cx="10515600" cy="140208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4227305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+mn-ea"/>
                          <a:cs typeface="+mn-cs"/>
                        </a:rPr>
                        <a:t>These are life's most valuable assets.</a:t>
                      </a:r>
                      <a:endPara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Segoe UI" panose="020B0502040204020203" pitchFamily="34" charset="0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+mn-ea"/>
                          <a:cs typeface="+mn-cs"/>
                        </a:rPr>
                        <a:t>And they all depend on one foundation: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+mn-ea"/>
                          <a:cs typeface="+mn-cs"/>
                        </a:rPr>
                        <a:t>Strong Bones</a:t>
                      </a:r>
                    </a:p>
                  </a:txBody>
                  <a:tcPr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37229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Segoe UI" panose="020B0502040204020203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86485765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5E27605E-F00F-4E86-B638-7C068BB5F9DD}"/>
              </a:ext>
            </a:extLst>
          </p:cNvPr>
          <p:cNvSpPr txBox="1"/>
          <p:nvPr/>
        </p:nvSpPr>
        <p:spPr>
          <a:xfrm>
            <a:off x="327212" y="4635112"/>
            <a:ext cx="6098240" cy="369332"/>
          </a:xfrm>
          <a:prstGeom prst="rect">
            <a:avLst/>
          </a:prstGeom>
          <a:solidFill>
            <a:schemeClr val="accent2"/>
          </a:solidFill>
        </p:spPr>
        <p:txBody>
          <a:bodyPr wrap="square">
            <a:spAutoFit/>
          </a:bodyPr>
          <a:lstStyle/>
          <a:p>
            <a:r>
              <a:rPr lang="en-US" dirty="0"/>
              <a:t>Strong Closing Line Below the Ticks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82224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B2068D3-F084-4B44-8A33-20B51CCBD4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4554977"/>
              </p:ext>
            </p:extLst>
          </p:nvPr>
        </p:nvGraphicFramePr>
        <p:xfrm>
          <a:off x="268605" y="1452404"/>
          <a:ext cx="11654790" cy="4841023"/>
        </p:xfrm>
        <a:graphic>
          <a:graphicData uri="http://schemas.openxmlformats.org/drawingml/2006/table">
            <a:tbl>
              <a:tblPr/>
              <a:tblGrid>
                <a:gridCol w="11654790">
                  <a:extLst>
                    <a:ext uri="{9D8B030D-6E8A-4147-A177-3AD203B41FA5}">
                      <a16:colId xmlns:a16="http://schemas.microsoft.com/office/drawing/2014/main" val="402547243"/>
                    </a:ext>
                  </a:extLst>
                </a:gridCol>
              </a:tblGrid>
              <a:tr h="4100253">
                <a:tc>
                  <a:txBody>
                    <a:bodyPr/>
                    <a:lstStyle/>
                    <a:p>
                      <a:pPr fontAlgn="t"/>
                      <a:r>
                        <a:rPr lang="en-US" sz="2000" b="0" i="0" dirty="0">
                          <a:effectLst/>
                          <a:latin typeface="Segoe UI" panose="020B0502040204020203" pitchFamily="34" charset="0"/>
                        </a:rPr>
                        <a:t>The independence you value.</a:t>
                      </a:r>
                      <a:br>
                        <a:rPr lang="en-US" sz="2000" b="0" i="0" dirty="0">
                          <a:effectLst/>
                          <a:latin typeface="Segoe UI" panose="020B0502040204020203" pitchFamily="34" charset="0"/>
                        </a:rPr>
                      </a:br>
                      <a:r>
                        <a:rPr lang="en-US" sz="2000" b="0" i="0" dirty="0">
                          <a:effectLst/>
                          <a:latin typeface="Segoe UI" panose="020B0502040204020203" pitchFamily="34" charset="0"/>
                        </a:rPr>
                        <a:t>The experiences you cherish.</a:t>
                      </a:r>
                      <a:br>
                        <a:rPr lang="en-US" sz="2000" b="0" i="0" dirty="0">
                          <a:effectLst/>
                          <a:latin typeface="Segoe UI" panose="020B0502040204020203" pitchFamily="34" charset="0"/>
                        </a:rPr>
                      </a:br>
                      <a:r>
                        <a:rPr lang="en-US" sz="2000" b="0" i="0" dirty="0">
                          <a:effectLst/>
                          <a:latin typeface="Segoe UI" panose="020B0502040204020203" pitchFamily="34" charset="0"/>
                        </a:rPr>
                        <a:t>The life you want to keep enjoying.</a:t>
                      </a:r>
                    </a:p>
                    <a:p>
                      <a:pPr fontAlgn="t"/>
                      <a:r>
                        <a:rPr lang="en-US" sz="2000" b="1" i="0" dirty="0">
                          <a:effectLst/>
                          <a:latin typeface="Segoe UI" panose="020B0502040204020203" pitchFamily="34" charset="0"/>
                        </a:rPr>
                        <a:t>It all rests on your bones.</a:t>
                      </a:r>
                      <a:endParaRPr lang="en-US" sz="2000" b="0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/>
                      <a:r>
                        <a:rPr lang="en-US" sz="2000" b="0" i="0" dirty="0">
                          <a:effectLst/>
                          <a:latin typeface="Segoe UI" panose="020B0502040204020203" pitchFamily="34" charset="0"/>
                        </a:rPr>
                        <a:t>When bones weaken, the impact extends far beyond a fracture.</a:t>
                      </a:r>
                    </a:p>
                    <a:p>
                      <a:pPr fontAlgn="t"/>
                      <a:endParaRPr lang="en-US" sz="2000" b="0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/>
                      <a:r>
                        <a:rPr lang="en-US" sz="2000" b="0" i="0" dirty="0">
                          <a:effectLst/>
                          <a:latin typeface="Segoe UI" panose="020B0502040204020203" pitchFamily="34" charset="0"/>
                        </a:rPr>
                        <a:t>It can affect:</a:t>
                      </a:r>
                    </a:p>
                    <a:p>
                      <a:pPr marL="342900" indent="-342900" fontAlgn="t">
                        <a:buFont typeface="Arial" panose="020B0604020202020204" pitchFamily="34" charset="0"/>
                        <a:buChar char="•"/>
                      </a:pPr>
                      <a:r>
                        <a:rPr lang="en-US" sz="2000" b="0" i="0" dirty="0">
                          <a:effectLst/>
                          <a:latin typeface="Segoe UI" panose="020B0502040204020203" pitchFamily="34" charset="0"/>
                        </a:rPr>
                        <a:t>Mobility</a:t>
                      </a:r>
                    </a:p>
                    <a:p>
                      <a:pPr marL="342900" indent="-342900" fontAlgn="t">
                        <a:buFont typeface="Arial" panose="020B0604020202020204" pitchFamily="34" charset="0"/>
                        <a:buChar char="•"/>
                      </a:pPr>
                      <a:r>
                        <a:rPr lang="en-US" sz="2000" b="0" i="0" dirty="0">
                          <a:effectLst/>
                          <a:latin typeface="Segoe UI" panose="020B0502040204020203" pitchFamily="34" charset="0"/>
                        </a:rPr>
                        <a:t>Confidence</a:t>
                      </a:r>
                    </a:p>
                    <a:p>
                      <a:pPr marL="342900" indent="-342900" fontAlgn="t">
                        <a:buFont typeface="Arial" panose="020B0604020202020204" pitchFamily="34" charset="0"/>
                        <a:buChar char="•"/>
                      </a:pPr>
                      <a:r>
                        <a:rPr lang="en-US" sz="2000" b="0" i="0" dirty="0">
                          <a:effectLst/>
                          <a:latin typeface="Segoe UI" panose="020B0502040204020203" pitchFamily="34" charset="0"/>
                        </a:rPr>
                        <a:t>Independence</a:t>
                      </a:r>
                    </a:p>
                    <a:p>
                      <a:pPr fontAlgn="t"/>
                      <a:endParaRPr lang="en-US" sz="2000" b="1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/>
                      <a:r>
                        <a:rPr lang="en-US" sz="2000" b="1" i="0" dirty="0">
                          <a:effectLst/>
                          <a:latin typeface="Segoe UI" panose="020B0502040204020203" pitchFamily="34" charset="0"/>
                        </a:rPr>
                        <a:t>That's why investing in bone health matters.</a:t>
                      </a:r>
                    </a:p>
                    <a:p>
                      <a:pPr fontAlgn="t"/>
                      <a:endParaRPr lang="en-US" sz="2000" b="1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/>
                      <a:r>
                        <a:rPr lang="en-US" sz="2000" b="1" i="0" dirty="0">
                          <a:effectLst/>
                          <a:latin typeface="Segoe UI" panose="020B0502040204020203" pitchFamily="34" charset="0"/>
                        </a:rPr>
                        <a:t>Invest today. Stay independent tomorrow.</a:t>
                      </a:r>
                      <a:endParaRPr lang="en-US" sz="2000" b="0" i="0" dirty="0">
                        <a:effectLst/>
                        <a:latin typeface="Segoe UI" panose="020B0502040204020203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8152845"/>
                  </a:ext>
                </a:extLst>
              </a:tr>
              <a:tr h="482383">
                <a:tc>
                  <a:txBody>
                    <a:bodyPr/>
                    <a:lstStyle/>
                    <a:p>
                      <a:endParaRPr lang="en-IN" sz="2000" dirty="0"/>
                    </a:p>
                  </a:txBody>
                  <a:tcP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602062372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627A99A-3AD1-4670-831F-DBD884AF8A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0493395"/>
              </p:ext>
            </p:extLst>
          </p:nvPr>
        </p:nvGraphicFramePr>
        <p:xfrm>
          <a:off x="838200" y="442595"/>
          <a:ext cx="10515600" cy="57912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62269497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t"/>
                      <a:r>
                        <a:rPr lang="en-US" sz="3200" b="1" i="0" dirty="0">
                          <a:effectLst/>
                          <a:latin typeface="Segoe UI" panose="020B0502040204020203" pitchFamily="34" charset="0"/>
                        </a:rPr>
                        <a:t>THE FOUNDATION OF YOUR FUTURE</a:t>
                      </a:r>
                    </a:p>
                  </a:txBody>
                  <a:tcPr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54175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861867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EE8A00C-3E8B-4604-97EA-B8D4864AF0BB}"/>
              </a:ext>
            </a:extLst>
          </p:cNvPr>
          <p:cNvSpPr txBox="1"/>
          <p:nvPr/>
        </p:nvSpPr>
        <p:spPr>
          <a:xfrm>
            <a:off x="448235" y="222821"/>
            <a:ext cx="11295529" cy="2185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400" b="1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BONE SIP</a:t>
            </a:r>
          </a:p>
          <a:p>
            <a:pPr algn="ctr"/>
            <a:r>
              <a:rPr lang="en-US" sz="32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Strong Independence Plan</a:t>
            </a:r>
          </a:p>
          <a:p>
            <a:pPr algn="ctr"/>
            <a:r>
              <a:rPr lang="en-US" sz="20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Just as you invest regularly for your financial future, </a:t>
            </a:r>
          </a:p>
          <a:p>
            <a:pPr algn="ctr"/>
            <a:r>
              <a:rPr lang="en-US" sz="20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your bones deserve a long-term investment plan too.</a:t>
            </a:r>
          </a:p>
          <a:p>
            <a:pPr algn="ctr"/>
            <a:r>
              <a:rPr lang="en-US" sz="2000" b="1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BONE SIP helps you:</a:t>
            </a:r>
            <a:endParaRPr lang="en-IN" sz="2800" b="1" dirty="0"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7DCFE96-2C99-45D2-9CC6-3B4A3340C5DD}"/>
              </a:ext>
            </a:extLst>
          </p:cNvPr>
          <p:cNvSpPr/>
          <p:nvPr/>
        </p:nvSpPr>
        <p:spPr>
          <a:xfrm>
            <a:off x="0" y="120506"/>
            <a:ext cx="2272553" cy="448056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>
                <a:solidFill>
                  <a:schemeClr val="tx1"/>
                </a:solidFill>
              </a:rPr>
              <a:t>PAGE 3</a:t>
            </a:r>
            <a:endParaRPr lang="en-IN" sz="2000" b="1" dirty="0">
              <a:solidFill>
                <a:schemeClr val="tx1"/>
              </a:solidFill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C59D3E77-25FF-41E8-9B53-5F0A921B27BB}"/>
              </a:ext>
            </a:extLst>
          </p:cNvPr>
          <p:cNvSpPr/>
          <p:nvPr/>
        </p:nvSpPr>
        <p:spPr>
          <a:xfrm>
            <a:off x="542051" y="2720396"/>
            <a:ext cx="3401568" cy="28803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19D7AB9-7321-467F-8F44-EFC6786ADBCA}"/>
              </a:ext>
            </a:extLst>
          </p:cNvPr>
          <p:cNvSpPr/>
          <p:nvPr/>
        </p:nvSpPr>
        <p:spPr>
          <a:xfrm>
            <a:off x="542051" y="2720396"/>
            <a:ext cx="54864" cy="2880360"/>
          </a:xfrm>
          <a:prstGeom prst="rect">
            <a:avLst/>
          </a:prstGeom>
          <a:solidFill>
            <a:srgbClr val="1F7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9BC1533-EB6A-4A4B-BDB9-9A34951E69B7}"/>
              </a:ext>
            </a:extLst>
          </p:cNvPr>
          <p:cNvSpPr txBox="1"/>
          <p:nvPr/>
        </p:nvSpPr>
        <p:spPr>
          <a:xfrm>
            <a:off x="743219" y="3342189"/>
            <a:ext cx="3081528" cy="15758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lang="en-IN" sz="2000" b="1" dirty="0">
                <a:solidFill>
                  <a:srgbClr val="32394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BUILD</a:t>
            </a:r>
          </a:p>
          <a:p>
            <a:pPr algn="l"/>
            <a:r>
              <a:rPr lang="en-IN" sz="2000" b="1" dirty="0">
                <a:solidFill>
                  <a:srgbClr val="32394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Build your Bone Capital</a:t>
            </a:r>
          </a:p>
          <a:p>
            <a:pPr algn="l"/>
            <a:r>
              <a:rPr lang="en-IN" sz="2000" b="0" dirty="0">
                <a:solidFill>
                  <a:srgbClr val="32394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Nutrition | Vitamin D | Protein | Exercise | Muscle Strength</a:t>
            </a:r>
            <a:endParaRPr sz="2000" b="0" dirty="0">
              <a:solidFill>
                <a:srgbClr val="32394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" name="Rounded Rectangle 11">
            <a:extLst>
              <a:ext uri="{FF2B5EF4-FFF2-40B4-BE49-F238E27FC236}">
                <a16:creationId xmlns:a16="http://schemas.microsoft.com/office/drawing/2014/main" id="{024E7E04-6508-42AA-B472-117D962DFD75}"/>
              </a:ext>
            </a:extLst>
          </p:cNvPr>
          <p:cNvSpPr/>
          <p:nvPr/>
        </p:nvSpPr>
        <p:spPr>
          <a:xfrm>
            <a:off x="4245371" y="2720396"/>
            <a:ext cx="3401568" cy="28803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8EBD33A-F918-474E-8B00-07C9B3E6F840}"/>
              </a:ext>
            </a:extLst>
          </p:cNvPr>
          <p:cNvSpPr/>
          <p:nvPr/>
        </p:nvSpPr>
        <p:spPr>
          <a:xfrm>
            <a:off x="4245371" y="2720396"/>
            <a:ext cx="54864" cy="2880360"/>
          </a:xfrm>
          <a:prstGeom prst="rect">
            <a:avLst/>
          </a:prstGeom>
          <a:solidFill>
            <a:srgbClr val="3D87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E6A33E6-242A-42C6-8C13-86720FB7A008}"/>
              </a:ext>
            </a:extLst>
          </p:cNvPr>
          <p:cNvSpPr txBox="1"/>
          <p:nvPr/>
        </p:nvSpPr>
        <p:spPr>
          <a:xfrm>
            <a:off x="4446538" y="3342189"/>
            <a:ext cx="3081528" cy="15758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lang="en-US" sz="2000" b="1" dirty="0">
                <a:solidFill>
                  <a:srgbClr val="32394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PROTECT</a:t>
            </a:r>
          </a:p>
          <a:p>
            <a:pPr algn="l"/>
            <a:r>
              <a:rPr lang="en-US" sz="2000" b="1" dirty="0">
                <a:solidFill>
                  <a:srgbClr val="32394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Protect your Bone Wealth</a:t>
            </a:r>
          </a:p>
          <a:p>
            <a:pPr algn="l"/>
            <a:r>
              <a:rPr lang="en-US" sz="2000" b="0" dirty="0">
                <a:solidFill>
                  <a:srgbClr val="32394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Fall Prevention | Safe Movement | Home Safety | Footwear</a:t>
            </a:r>
            <a:endParaRPr sz="2000" b="0" dirty="0">
              <a:solidFill>
                <a:srgbClr val="32394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" name="Rounded Rectangle 15">
            <a:extLst>
              <a:ext uri="{FF2B5EF4-FFF2-40B4-BE49-F238E27FC236}">
                <a16:creationId xmlns:a16="http://schemas.microsoft.com/office/drawing/2014/main" id="{C1972D73-B62B-4D91-A763-73F55D1516A9}"/>
              </a:ext>
            </a:extLst>
          </p:cNvPr>
          <p:cNvSpPr/>
          <p:nvPr/>
        </p:nvSpPr>
        <p:spPr>
          <a:xfrm>
            <a:off x="7948691" y="2720396"/>
            <a:ext cx="3401568" cy="28803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2DF249D-791F-47F0-8AAB-231DFB3DC187}"/>
              </a:ext>
            </a:extLst>
          </p:cNvPr>
          <p:cNvSpPr/>
          <p:nvPr/>
        </p:nvSpPr>
        <p:spPr>
          <a:xfrm>
            <a:off x="7948691" y="2720396"/>
            <a:ext cx="54864" cy="2880360"/>
          </a:xfrm>
          <a:prstGeom prst="rect">
            <a:avLst/>
          </a:prstGeom>
          <a:solidFill>
            <a:srgbClr val="CF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5A7B53C-85AC-4CC9-86B0-E166C824A82A}"/>
              </a:ext>
            </a:extLst>
          </p:cNvPr>
          <p:cNvSpPr txBox="1"/>
          <p:nvPr/>
        </p:nvSpPr>
        <p:spPr>
          <a:xfrm>
            <a:off x="8043896" y="3342189"/>
            <a:ext cx="3346704" cy="188359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lang="en-IN" sz="2000" b="1" dirty="0">
                <a:solidFill>
                  <a:srgbClr val="32394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STRENGTHEN</a:t>
            </a:r>
          </a:p>
          <a:p>
            <a:pPr algn="l"/>
            <a:r>
              <a:rPr lang="en-IN" sz="2000" b="1" dirty="0">
                <a:solidFill>
                  <a:srgbClr val="32394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Optimize your Bone Portfolio</a:t>
            </a:r>
          </a:p>
          <a:p>
            <a:pPr algn="l"/>
            <a:r>
              <a:rPr lang="en-IN" sz="2000" b="0" dirty="0">
                <a:solidFill>
                  <a:srgbClr val="32394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Risk Assessment | DXA/BMD | FRAX® | Fracture History | Doctor Discussion</a:t>
            </a:r>
            <a:endParaRPr sz="2000" b="0" dirty="0">
              <a:solidFill>
                <a:srgbClr val="32394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9831772D-8AAD-4702-991F-4AA87D8D80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0901503"/>
              </p:ext>
            </p:extLst>
          </p:nvPr>
        </p:nvGraphicFramePr>
        <p:xfrm>
          <a:off x="834659" y="5719629"/>
          <a:ext cx="10515600" cy="100584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305164610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t"/>
                      <a:r>
                        <a:rPr lang="en-US" b="1" i="0">
                          <a:effectLst/>
                          <a:latin typeface="Segoe UI" panose="020B0502040204020203" pitchFamily="34" charset="0"/>
                        </a:rPr>
                        <a:t>Start Your Bone Investment Journey</a:t>
                      </a:r>
                    </a:p>
                    <a:p>
                      <a:pPr algn="ctr" fontAlgn="t"/>
                      <a:r>
                        <a:rPr lang="en-US" b="0" i="0">
                          <a:effectLst/>
                          <a:latin typeface="Segoe UI" panose="020B0502040204020203" pitchFamily="34" charset="0"/>
                        </a:rPr>
                        <a:t>A strong future is built one step at a time.</a:t>
                      </a:r>
                    </a:p>
                  </a:txBody>
                  <a:tcPr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53189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742529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784796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D58A391-0056-4240-923D-CF4548FA580B}"/>
              </a:ext>
            </a:extLst>
          </p:cNvPr>
          <p:cNvSpPr txBox="1"/>
          <p:nvPr/>
        </p:nvSpPr>
        <p:spPr>
          <a:xfrm>
            <a:off x="58271" y="927847"/>
            <a:ext cx="12075458" cy="20005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BUILD THE FOUNDATION.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GIVE YOUR BONES WHAT THEY NEED TODAY TO SUPPORT THE LIFE YOU WANT TOMORROW.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Bones are living tissue.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Throughout life, your body continuously breaks down old bone and builds new bone. 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The right nutrition and regular movement help maintain bone strength and muscle function. 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Without enough support, bones may gradually become weaker and more fragile.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FC84A69-4231-41A0-AD93-279C19C755A6}"/>
              </a:ext>
            </a:extLst>
          </p:cNvPr>
          <p:cNvSpPr/>
          <p:nvPr/>
        </p:nvSpPr>
        <p:spPr>
          <a:xfrm>
            <a:off x="1" y="120506"/>
            <a:ext cx="1855694" cy="448056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>
                <a:solidFill>
                  <a:schemeClr val="tx1"/>
                </a:solidFill>
              </a:rPr>
              <a:t>PAGE 6</a:t>
            </a:r>
            <a:endParaRPr lang="en-IN" sz="2000" b="1" dirty="0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AF1D32B-F8C3-453E-A083-933BBE7629B2}"/>
              </a:ext>
            </a:extLst>
          </p:cNvPr>
          <p:cNvSpPr txBox="1"/>
          <p:nvPr/>
        </p:nvSpPr>
        <p:spPr>
          <a:xfrm>
            <a:off x="3030071" y="-126367"/>
            <a:ext cx="6131858" cy="9014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4000" b="1" dirty="0">
                <a:highlight>
                  <a:srgbClr val="FF00FF"/>
                </a:highlight>
                <a:latin typeface="Cambria" panose="02040503050406030204" pitchFamily="18" charset="0"/>
                <a:ea typeface="Cambria" panose="02040503050406030204" pitchFamily="18" charset="0"/>
              </a:rPr>
              <a:t>BUILD</a:t>
            </a: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0B87FFF7-4F46-47EE-B664-66999CC3B1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0739195"/>
              </p:ext>
            </p:extLst>
          </p:nvPr>
        </p:nvGraphicFramePr>
        <p:xfrm>
          <a:off x="8727145" y="3513170"/>
          <a:ext cx="2855256" cy="609600"/>
        </p:xfrm>
        <a:graphic>
          <a:graphicData uri="http://schemas.openxmlformats.org/drawingml/2006/table">
            <a:tbl>
              <a:tblPr/>
              <a:tblGrid>
                <a:gridCol w="2855256">
                  <a:extLst>
                    <a:ext uri="{9D8B030D-6E8A-4147-A177-3AD203B41FA5}">
                      <a16:colId xmlns:a16="http://schemas.microsoft.com/office/drawing/2014/main" val="406974863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/>
                      <a:endParaRPr lang="en-US" sz="1400" b="0" i="0" dirty="0">
                        <a:effectLst/>
                        <a:latin typeface="Segoe UI" panose="020B0502040204020203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5506824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639934266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A1561E1F-3704-43A8-8A8C-1946556E8F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8379565"/>
              </p:ext>
            </p:extLst>
          </p:nvPr>
        </p:nvGraphicFramePr>
        <p:xfrm>
          <a:off x="286870" y="5149672"/>
          <a:ext cx="11905129" cy="914400"/>
        </p:xfrm>
        <a:graphic>
          <a:graphicData uri="http://schemas.openxmlformats.org/drawingml/2006/table">
            <a:tbl>
              <a:tblPr/>
              <a:tblGrid>
                <a:gridCol w="11905129">
                  <a:extLst>
                    <a:ext uri="{9D8B030D-6E8A-4147-A177-3AD203B41FA5}">
                      <a16:colId xmlns:a16="http://schemas.microsoft.com/office/drawing/2014/main" val="345059471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t"/>
                      <a:r>
                        <a:rPr lang="en-US" sz="2400" b="1" i="0" dirty="0">
                          <a:effectLst/>
                          <a:latin typeface="Segoe UI" panose="020B0502040204020203" pitchFamily="34" charset="0"/>
                        </a:rPr>
                        <a:t>THE EARLIER YOU START, THE GREATER THE POTENTIAL RETURNS.</a:t>
                      </a:r>
                    </a:p>
                  </a:txBody>
                  <a:tcPr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18141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en-IN" sz="2400" b="1" dirty="0"/>
                    </a:p>
                  </a:txBody>
                  <a:tcP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2087984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319964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2E95095-51A6-4C3F-B809-602E0F51D715}"/>
              </a:ext>
            </a:extLst>
          </p:cNvPr>
          <p:cNvSpPr txBox="1"/>
          <p:nvPr/>
        </p:nvSpPr>
        <p:spPr>
          <a:xfrm>
            <a:off x="3046880" y="117957"/>
            <a:ext cx="60982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THE BONE SIP BUILD FORMULA</a:t>
            </a:r>
            <a:endParaRPr lang="en-IN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8B4BDC8-50E0-4C14-98D0-66EFC42DD8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2708344"/>
              </p:ext>
            </p:extLst>
          </p:nvPr>
        </p:nvGraphicFramePr>
        <p:xfrm>
          <a:off x="156883" y="1576794"/>
          <a:ext cx="3209365" cy="3596640"/>
        </p:xfrm>
        <a:graphic>
          <a:graphicData uri="http://schemas.openxmlformats.org/drawingml/2006/table">
            <a:tbl>
              <a:tblPr/>
              <a:tblGrid>
                <a:gridCol w="3209365">
                  <a:extLst>
                    <a:ext uri="{9D8B030D-6E8A-4147-A177-3AD203B41FA5}">
                      <a16:colId xmlns:a16="http://schemas.microsoft.com/office/drawing/2014/main" val="235534618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/>
                      <a:r>
                        <a:rPr lang="en-IN" sz="1400" b="1" i="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CALCIUM</a:t>
                      </a:r>
                    </a:p>
                    <a:p>
                      <a:pPr fontAlgn="t"/>
                      <a:r>
                        <a:rPr lang="en-IN" sz="1400" b="0" i="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The building block of bone.</a:t>
                      </a:r>
                    </a:p>
                    <a:p>
                      <a:pPr fontAlgn="t"/>
                      <a:r>
                        <a:rPr lang="en-IN" sz="1400" b="1" i="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Common sources:</a:t>
                      </a:r>
                      <a:endParaRPr lang="en-IN" sz="1400" b="0" i="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  <a:p>
                      <a:pPr fontAlgn="t"/>
                      <a:r>
                        <a:rPr lang="en-IN" sz="1400" b="0" i="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✓ Milk &amp; curd</a:t>
                      </a:r>
                    </a:p>
                    <a:p>
                      <a:pPr fontAlgn="t"/>
                      <a:r>
                        <a:rPr lang="en-IN" sz="1400" b="0" i="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✓ Paneer</a:t>
                      </a:r>
                    </a:p>
                    <a:p>
                      <a:pPr fontAlgn="t"/>
                      <a:r>
                        <a:rPr lang="en-IN" sz="1400" b="0" i="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✓ Cheese</a:t>
                      </a:r>
                    </a:p>
                    <a:p>
                      <a:pPr fontAlgn="t"/>
                      <a:r>
                        <a:rPr lang="en-IN" sz="1400" b="0" i="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✓ Ragi</a:t>
                      </a:r>
                    </a:p>
                    <a:p>
                      <a:pPr fontAlgn="t"/>
                      <a:r>
                        <a:rPr lang="en-IN" sz="1400" b="0" i="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✓ Sesame seeds (</a:t>
                      </a:r>
                      <a:r>
                        <a:rPr lang="en-IN" sz="1400" b="0" i="0" dirty="0" err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Til</a:t>
                      </a:r>
                      <a:r>
                        <a:rPr lang="en-IN" sz="1400" b="0" i="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)</a:t>
                      </a:r>
                    </a:p>
                    <a:p>
                      <a:pPr fontAlgn="t"/>
                      <a:r>
                        <a:rPr lang="en-IN" sz="1400" b="0" i="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✓ Almonds</a:t>
                      </a:r>
                    </a:p>
                    <a:p>
                      <a:pPr fontAlgn="t"/>
                      <a:r>
                        <a:rPr lang="en-IN" sz="1400" b="0" i="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✓ Soy products</a:t>
                      </a:r>
                    </a:p>
                    <a:p>
                      <a:pPr fontAlgn="t"/>
                      <a:r>
                        <a:rPr lang="en-IN" sz="1400" b="0" i="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✓ Tofu</a:t>
                      </a:r>
                    </a:p>
                    <a:p>
                      <a:pPr fontAlgn="t"/>
                      <a:r>
                        <a:rPr lang="en-IN" sz="1400" b="0" i="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✓ Green leafy vegetables</a:t>
                      </a:r>
                    </a:p>
                    <a:p>
                      <a:pPr fontAlgn="t"/>
                      <a:r>
                        <a:rPr lang="en-IN" sz="1400" b="1" i="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Daily goal:</a:t>
                      </a:r>
                    </a:p>
                    <a:p>
                      <a:pPr fontAlgn="t"/>
                      <a:r>
                        <a:rPr lang="en-IN" sz="1400" b="0" i="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Approx. 1000-1200 mg/day (as advised by your healthcare professional)</a:t>
                      </a:r>
                    </a:p>
                  </a:txBody>
                  <a:tcPr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5411492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IN" sz="1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318471806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EAFF69A-9E79-4DE5-BC73-6A891C0C0D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2320019"/>
              </p:ext>
            </p:extLst>
          </p:nvPr>
        </p:nvGraphicFramePr>
        <p:xfrm>
          <a:off x="3545543" y="1576794"/>
          <a:ext cx="2093259" cy="3596640"/>
        </p:xfrm>
        <a:graphic>
          <a:graphicData uri="http://schemas.openxmlformats.org/drawingml/2006/table">
            <a:tbl>
              <a:tblPr/>
              <a:tblGrid>
                <a:gridCol w="2093259">
                  <a:extLst>
                    <a:ext uri="{9D8B030D-6E8A-4147-A177-3AD203B41FA5}">
                      <a16:colId xmlns:a16="http://schemas.microsoft.com/office/drawing/2014/main" val="3854614414"/>
                    </a:ext>
                  </a:extLst>
                </a:gridCol>
              </a:tblGrid>
              <a:tr h="3100551">
                <a:tc>
                  <a:txBody>
                    <a:bodyPr/>
                    <a:lstStyle/>
                    <a:p>
                      <a:pPr fontAlgn="t"/>
                      <a:r>
                        <a:rPr lang="en-IN" sz="1400" b="1" i="0" dirty="0">
                          <a:effectLst/>
                          <a:latin typeface="Segoe UI" panose="020B0502040204020203" pitchFamily="34" charset="0"/>
                        </a:rPr>
                        <a:t>VITAMIN D</a:t>
                      </a:r>
                    </a:p>
                    <a:p>
                      <a:pPr fontAlgn="t"/>
                      <a:r>
                        <a:rPr lang="en-IN" sz="1400" b="0" i="0" dirty="0">
                          <a:effectLst/>
                          <a:latin typeface="Segoe UI" panose="020B0502040204020203" pitchFamily="34" charset="0"/>
                        </a:rPr>
                        <a:t>Helps your body absorb calcium.</a:t>
                      </a:r>
                    </a:p>
                    <a:p>
                      <a:pPr fontAlgn="t"/>
                      <a:r>
                        <a:rPr lang="en-IN" sz="1400" b="1" i="0" dirty="0">
                          <a:effectLst/>
                          <a:latin typeface="Segoe UI" panose="020B0502040204020203" pitchFamily="34" charset="0"/>
                        </a:rPr>
                        <a:t>Sources:</a:t>
                      </a:r>
                      <a:endParaRPr lang="en-IN" sz="1400" b="0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/>
                      <a:r>
                        <a:rPr lang="en-IN" sz="1400" b="0" i="0" dirty="0">
                          <a:effectLst/>
                          <a:latin typeface="Segoe UI" panose="020B0502040204020203" pitchFamily="34" charset="0"/>
                        </a:rPr>
                        <a:t>✓ Safe sunlight exposure</a:t>
                      </a:r>
                    </a:p>
                    <a:p>
                      <a:pPr fontAlgn="t"/>
                      <a:r>
                        <a:rPr lang="en-IN" sz="1400" b="0" i="0" dirty="0">
                          <a:effectLst/>
                          <a:latin typeface="Segoe UI" panose="020B0502040204020203" pitchFamily="34" charset="0"/>
                        </a:rPr>
                        <a:t>✓ Fortified foods</a:t>
                      </a:r>
                    </a:p>
                    <a:p>
                      <a:pPr fontAlgn="t"/>
                      <a:r>
                        <a:rPr lang="en-IN" sz="1400" b="0" i="0" dirty="0">
                          <a:effectLst/>
                          <a:latin typeface="Segoe UI" panose="020B0502040204020203" pitchFamily="34" charset="0"/>
                        </a:rPr>
                        <a:t>✓ Egg yolk</a:t>
                      </a:r>
                    </a:p>
                    <a:p>
                      <a:pPr fontAlgn="t"/>
                      <a:r>
                        <a:rPr lang="en-IN" sz="1400" b="0" i="0" dirty="0">
                          <a:effectLst/>
                          <a:latin typeface="Segoe UI" panose="020B0502040204020203" pitchFamily="34" charset="0"/>
                        </a:rPr>
                        <a:t>✓ Fatty fish</a:t>
                      </a:r>
                    </a:p>
                    <a:p>
                      <a:pPr fontAlgn="t"/>
                      <a:r>
                        <a:rPr lang="en-IN" sz="1400" b="0" i="0" dirty="0">
                          <a:effectLst/>
                          <a:latin typeface="Segoe UI" panose="020B0502040204020203" pitchFamily="34" charset="0"/>
                        </a:rPr>
                        <a:t>✓ Supplements if recommended</a:t>
                      </a:r>
                    </a:p>
                  </a:txBody>
                  <a:tcPr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437179"/>
                  </a:ext>
                </a:extLst>
              </a:tr>
              <a:tr h="496089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989569867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982F6BC-4F14-4EDD-905A-B6A0AD946C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3949019"/>
              </p:ext>
            </p:extLst>
          </p:nvPr>
        </p:nvGraphicFramePr>
        <p:xfrm>
          <a:off x="5818097" y="1576794"/>
          <a:ext cx="2689412" cy="3383280"/>
        </p:xfrm>
        <a:graphic>
          <a:graphicData uri="http://schemas.openxmlformats.org/drawingml/2006/table">
            <a:tbl>
              <a:tblPr/>
              <a:tblGrid>
                <a:gridCol w="2689412">
                  <a:extLst>
                    <a:ext uri="{9D8B030D-6E8A-4147-A177-3AD203B41FA5}">
                      <a16:colId xmlns:a16="http://schemas.microsoft.com/office/drawing/2014/main" val="306001727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/>
                      <a:r>
                        <a:rPr lang="en-IN" sz="1400" b="1" i="0" dirty="0">
                          <a:effectLst/>
                          <a:latin typeface="Segoe UI" panose="020B0502040204020203" pitchFamily="34" charset="0"/>
                        </a:rPr>
                        <a:t>PROTEIN</a:t>
                      </a:r>
                    </a:p>
                    <a:p>
                      <a:pPr fontAlgn="t"/>
                      <a:r>
                        <a:rPr lang="en-IN" sz="1400" b="0" i="0" dirty="0">
                          <a:effectLst/>
                          <a:latin typeface="Segoe UI" panose="020B0502040204020203" pitchFamily="34" charset="0"/>
                        </a:rPr>
                        <a:t>Bones need protein too.</a:t>
                      </a:r>
                    </a:p>
                    <a:p>
                      <a:pPr fontAlgn="t"/>
                      <a:r>
                        <a:rPr lang="en-IN" sz="1400" b="0" i="0" dirty="0">
                          <a:effectLst/>
                          <a:latin typeface="Segoe UI" panose="020B0502040204020203" pitchFamily="34" charset="0"/>
                        </a:rPr>
                        <a:t>Protein supports muscles that help protect against falls and fractures.</a:t>
                      </a:r>
                    </a:p>
                    <a:p>
                      <a:pPr fontAlgn="t"/>
                      <a:r>
                        <a:rPr lang="en-IN" sz="1400" b="1" i="0" dirty="0">
                          <a:effectLst/>
                          <a:latin typeface="Segoe UI" panose="020B0502040204020203" pitchFamily="34" charset="0"/>
                        </a:rPr>
                        <a:t>Sources:</a:t>
                      </a:r>
                      <a:endParaRPr lang="en-IN" sz="1400" b="0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/>
                      <a:r>
                        <a:rPr lang="en-IN" sz="1400" b="0" i="0" dirty="0">
                          <a:effectLst/>
                          <a:latin typeface="Segoe UI" panose="020B0502040204020203" pitchFamily="34" charset="0"/>
                        </a:rPr>
                        <a:t>✓ Dals</a:t>
                      </a:r>
                    </a:p>
                    <a:p>
                      <a:pPr fontAlgn="t"/>
                      <a:r>
                        <a:rPr lang="en-IN" sz="1400" b="0" i="0" dirty="0">
                          <a:effectLst/>
                          <a:latin typeface="Segoe UI" panose="020B0502040204020203" pitchFamily="34" charset="0"/>
                        </a:rPr>
                        <a:t>✓ Pulses</a:t>
                      </a:r>
                    </a:p>
                    <a:p>
                      <a:pPr fontAlgn="t"/>
                      <a:r>
                        <a:rPr lang="en-IN" sz="1400" b="0" i="0" dirty="0">
                          <a:effectLst/>
                          <a:latin typeface="Segoe UI" panose="020B0502040204020203" pitchFamily="34" charset="0"/>
                        </a:rPr>
                        <a:t>✓ Soy</a:t>
                      </a:r>
                    </a:p>
                    <a:p>
                      <a:pPr fontAlgn="t"/>
                      <a:r>
                        <a:rPr lang="en-IN" sz="1400" b="0" i="0" dirty="0">
                          <a:effectLst/>
                          <a:latin typeface="Segoe UI" panose="020B0502040204020203" pitchFamily="34" charset="0"/>
                        </a:rPr>
                        <a:t>✓ Paneer</a:t>
                      </a:r>
                    </a:p>
                    <a:p>
                      <a:pPr fontAlgn="t"/>
                      <a:r>
                        <a:rPr lang="en-IN" sz="1400" b="0" i="0" dirty="0">
                          <a:effectLst/>
                          <a:latin typeface="Segoe UI" panose="020B0502040204020203" pitchFamily="34" charset="0"/>
                        </a:rPr>
                        <a:t>✓ Greek yogurt</a:t>
                      </a:r>
                    </a:p>
                    <a:p>
                      <a:pPr fontAlgn="t"/>
                      <a:r>
                        <a:rPr lang="en-IN" sz="1400" b="0" i="0" dirty="0">
                          <a:effectLst/>
                          <a:latin typeface="Segoe UI" panose="020B0502040204020203" pitchFamily="34" charset="0"/>
                        </a:rPr>
                        <a:t>✓ Eggs</a:t>
                      </a:r>
                    </a:p>
                    <a:p>
                      <a:pPr fontAlgn="t"/>
                      <a:r>
                        <a:rPr lang="en-IN" sz="1400" b="0" i="0" dirty="0">
                          <a:effectLst/>
                          <a:latin typeface="Segoe UI" panose="020B0502040204020203" pitchFamily="34" charset="0"/>
                        </a:rPr>
                        <a:t>✓ Chicken</a:t>
                      </a:r>
                    </a:p>
                    <a:p>
                      <a:pPr fontAlgn="t"/>
                      <a:r>
                        <a:rPr lang="en-IN" sz="1400" b="0" i="0" dirty="0">
                          <a:effectLst/>
                          <a:latin typeface="Segoe UI" panose="020B0502040204020203" pitchFamily="34" charset="0"/>
                        </a:rPr>
                        <a:t>✓ Fish</a:t>
                      </a:r>
                    </a:p>
                  </a:txBody>
                  <a:tcPr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9946525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24644703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2414294A-0511-4968-94C1-BE74C6548C71}"/>
              </a:ext>
            </a:extLst>
          </p:cNvPr>
          <p:cNvSpPr txBox="1"/>
          <p:nvPr/>
        </p:nvSpPr>
        <p:spPr>
          <a:xfrm>
            <a:off x="156883" y="847376"/>
            <a:ext cx="8350626" cy="584775"/>
          </a:xfrm>
          <a:prstGeom prst="rect">
            <a:avLst/>
          </a:prstGeom>
          <a:solidFill>
            <a:srgbClr val="92D050"/>
          </a:solidFill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RIGHT FOOD INTAKE</a:t>
            </a:r>
            <a:endParaRPr lang="en-IN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7C5C59E-9BF8-46D0-8C72-7A09BC023DEA}"/>
              </a:ext>
            </a:extLst>
          </p:cNvPr>
          <p:cNvSpPr txBox="1"/>
          <p:nvPr/>
        </p:nvSpPr>
        <p:spPr>
          <a:xfrm>
            <a:off x="8825754" y="847375"/>
            <a:ext cx="2859740" cy="2308324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en-US" sz="2400" b="1" dirty="0"/>
              <a:t>BUILD MY BONE PLATE</a:t>
            </a:r>
          </a:p>
          <a:p>
            <a:r>
              <a:rPr lang="en-US" sz="2400" b="1" dirty="0"/>
              <a:t>BONE HEALTH NUTRITION DESIGNED FOR YOUR LIFESTYLE</a:t>
            </a:r>
            <a:endParaRPr lang="en-IN" sz="24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DE7CD00-36D6-458D-BF29-0E6D48C4265F}"/>
              </a:ext>
            </a:extLst>
          </p:cNvPr>
          <p:cNvSpPr txBox="1"/>
          <p:nvPr/>
        </p:nvSpPr>
        <p:spPr>
          <a:xfrm>
            <a:off x="202830" y="5334811"/>
            <a:ext cx="11230534" cy="129266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sz="2400" b="1" dirty="0"/>
              <a:t>THE 3-2-1 BONE SIP RULE</a:t>
            </a:r>
          </a:p>
          <a:p>
            <a:r>
              <a:rPr lang="en-US" dirty="0"/>
              <a:t>✅ 3 Calcium-rich foods</a:t>
            </a:r>
          </a:p>
          <a:p>
            <a:r>
              <a:rPr lang="en-US" dirty="0"/>
              <a:t>✅ 2 Protein servings</a:t>
            </a:r>
          </a:p>
          <a:p>
            <a:r>
              <a:rPr lang="en-US" dirty="0"/>
              <a:t>✅ 1 Vitamin D source daily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691801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179D0F8-1CEF-41D4-B0F1-A8AA8C218EDA}"/>
              </a:ext>
            </a:extLst>
          </p:cNvPr>
          <p:cNvSpPr/>
          <p:nvPr/>
        </p:nvSpPr>
        <p:spPr>
          <a:xfrm>
            <a:off x="0" y="120506"/>
            <a:ext cx="12235747" cy="448056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WITH AI</a:t>
            </a:r>
            <a:endParaRPr lang="en-IN" sz="2000" b="1" dirty="0">
              <a:solidFill>
                <a:schemeClr val="tx1"/>
              </a:solidFill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ECB57C8-9E0D-46D0-8D90-B39E3EB0C6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0714238"/>
              </p:ext>
            </p:extLst>
          </p:nvPr>
        </p:nvGraphicFramePr>
        <p:xfrm>
          <a:off x="257736" y="1201617"/>
          <a:ext cx="3195918" cy="4023360"/>
        </p:xfrm>
        <a:graphic>
          <a:graphicData uri="http://schemas.openxmlformats.org/drawingml/2006/table">
            <a:tbl>
              <a:tblPr/>
              <a:tblGrid>
                <a:gridCol w="3195918">
                  <a:extLst>
                    <a:ext uri="{9D8B030D-6E8A-4147-A177-3AD203B41FA5}">
                      <a16:colId xmlns:a16="http://schemas.microsoft.com/office/drawing/2014/main" val="40896443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/>
                      <a:r>
                        <a:rPr lang="en-IN" b="1" i="0">
                          <a:effectLst/>
                          <a:latin typeface="Segoe UI" panose="020B0502040204020203" pitchFamily="34" charset="0"/>
                        </a:rPr>
                        <a:t>VEGETARIAN</a:t>
                      </a:r>
                    </a:p>
                    <a:p>
                      <a:pPr fontAlgn="t"/>
                      <a:r>
                        <a:rPr lang="en-IN" b="1" i="0">
                          <a:effectLst/>
                          <a:latin typeface="Segoe UI" panose="020B0502040204020203" pitchFamily="34" charset="0"/>
                        </a:rPr>
                        <a:t>BREAKFAST</a:t>
                      </a:r>
                    </a:p>
                    <a:p>
                      <a:pPr fontAlgn="t"/>
                      <a:r>
                        <a:rPr lang="en-IN" b="0" i="0">
                          <a:effectLst/>
                          <a:latin typeface="Segoe UI" panose="020B0502040204020203" pitchFamily="34" charset="0"/>
                        </a:rPr>
                        <a:t>Ragi dosa + curd</a:t>
                      </a:r>
                    </a:p>
                    <a:p>
                      <a:pPr fontAlgn="t"/>
                      <a:r>
                        <a:rPr lang="en-IN" b="0" i="0">
                          <a:effectLst/>
                          <a:latin typeface="Segoe UI" panose="020B0502040204020203" pitchFamily="34" charset="0"/>
                        </a:rPr>
                        <a:t>OR</a:t>
                      </a:r>
                    </a:p>
                    <a:p>
                      <a:pPr fontAlgn="t"/>
                      <a:r>
                        <a:rPr lang="en-IN" b="0" i="0">
                          <a:effectLst/>
                          <a:latin typeface="Segoe UI" panose="020B0502040204020203" pitchFamily="34" charset="0"/>
                        </a:rPr>
                        <a:t>Vegetable poha + milk</a:t>
                      </a:r>
                    </a:p>
                    <a:p>
                      <a:pPr fontAlgn="t"/>
                      <a:r>
                        <a:rPr lang="en-IN" b="1" i="0">
                          <a:effectLst/>
                          <a:latin typeface="Segoe UI" panose="020B0502040204020203" pitchFamily="34" charset="0"/>
                        </a:rPr>
                        <a:t>LUNCH</a:t>
                      </a:r>
                    </a:p>
                    <a:p>
                      <a:pPr fontAlgn="t"/>
                      <a:r>
                        <a:rPr lang="en-IN" b="0" i="0">
                          <a:effectLst/>
                          <a:latin typeface="Segoe UI" panose="020B0502040204020203" pitchFamily="34" charset="0"/>
                        </a:rPr>
                        <a:t>Dal + chapati + spinach sabzi + salad</a:t>
                      </a:r>
                    </a:p>
                    <a:p>
                      <a:pPr fontAlgn="t"/>
                      <a:r>
                        <a:rPr lang="en-IN" b="1" i="0">
                          <a:effectLst/>
                          <a:latin typeface="Segoe UI" panose="020B0502040204020203" pitchFamily="34" charset="0"/>
                        </a:rPr>
                        <a:t>SNACK</a:t>
                      </a:r>
                    </a:p>
                    <a:p>
                      <a:pPr fontAlgn="t"/>
                      <a:r>
                        <a:rPr lang="en-IN" b="0" i="0">
                          <a:effectLst/>
                          <a:latin typeface="Segoe UI" panose="020B0502040204020203" pitchFamily="34" charset="0"/>
                        </a:rPr>
                        <a:t>Roasted chana + buttermilk</a:t>
                      </a:r>
                    </a:p>
                    <a:p>
                      <a:pPr fontAlgn="t"/>
                      <a:r>
                        <a:rPr lang="en-IN" b="1" i="0">
                          <a:effectLst/>
                          <a:latin typeface="Segoe UI" panose="020B0502040204020203" pitchFamily="34" charset="0"/>
                        </a:rPr>
                        <a:t>DINNER</a:t>
                      </a:r>
                    </a:p>
                    <a:p>
                      <a:pPr fontAlgn="t"/>
                      <a:r>
                        <a:rPr lang="en-IN" b="0" i="0">
                          <a:effectLst/>
                          <a:latin typeface="Segoe UI" panose="020B0502040204020203" pitchFamily="34" charset="0"/>
                        </a:rPr>
                        <a:t>Paneer bhurji + vegetables + multigrain roti</a:t>
                      </a:r>
                    </a:p>
                  </a:txBody>
                  <a:tcPr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457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165834921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4E079C3-2E17-44FB-8E5B-1DD4B7F783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1868174"/>
              </p:ext>
            </p:extLst>
          </p:nvPr>
        </p:nvGraphicFramePr>
        <p:xfrm>
          <a:off x="3769659" y="1201617"/>
          <a:ext cx="2442882" cy="3749040"/>
        </p:xfrm>
        <a:graphic>
          <a:graphicData uri="http://schemas.openxmlformats.org/drawingml/2006/table">
            <a:tbl>
              <a:tblPr/>
              <a:tblGrid>
                <a:gridCol w="2442882">
                  <a:extLst>
                    <a:ext uri="{9D8B030D-6E8A-4147-A177-3AD203B41FA5}">
                      <a16:colId xmlns:a16="http://schemas.microsoft.com/office/drawing/2014/main" val="31124885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/>
                      <a:r>
                        <a:rPr lang="en-IN" b="1" i="0">
                          <a:effectLst/>
                          <a:latin typeface="Segoe UI" panose="020B0502040204020203" pitchFamily="34" charset="0"/>
                        </a:rPr>
                        <a:t>EGGETARIAN</a:t>
                      </a:r>
                    </a:p>
                    <a:p>
                      <a:pPr fontAlgn="t"/>
                      <a:r>
                        <a:rPr lang="en-IN" b="1" i="0">
                          <a:effectLst/>
                          <a:latin typeface="Segoe UI" panose="020B0502040204020203" pitchFamily="34" charset="0"/>
                        </a:rPr>
                        <a:t>BREAKFAST</a:t>
                      </a:r>
                    </a:p>
                    <a:p>
                      <a:pPr fontAlgn="t"/>
                      <a:r>
                        <a:rPr lang="en-IN" b="0" i="0">
                          <a:effectLst/>
                          <a:latin typeface="Segoe UI" panose="020B0502040204020203" pitchFamily="34" charset="0"/>
                        </a:rPr>
                        <a:t>2 eggs + whole grain toast + milk</a:t>
                      </a:r>
                    </a:p>
                    <a:p>
                      <a:pPr fontAlgn="t"/>
                      <a:r>
                        <a:rPr lang="en-IN" b="1" i="0">
                          <a:effectLst/>
                          <a:latin typeface="Segoe UI" panose="020B0502040204020203" pitchFamily="34" charset="0"/>
                        </a:rPr>
                        <a:t>LUNCH</a:t>
                      </a:r>
                    </a:p>
                    <a:p>
                      <a:pPr fontAlgn="t"/>
                      <a:r>
                        <a:rPr lang="en-IN" b="0" i="0">
                          <a:effectLst/>
                          <a:latin typeface="Segoe UI" panose="020B0502040204020203" pitchFamily="34" charset="0"/>
                        </a:rPr>
                        <a:t>Dal + rice + vegetables</a:t>
                      </a:r>
                    </a:p>
                    <a:p>
                      <a:pPr fontAlgn="t"/>
                      <a:r>
                        <a:rPr lang="en-IN" b="1" i="0">
                          <a:effectLst/>
                          <a:latin typeface="Segoe UI" panose="020B0502040204020203" pitchFamily="34" charset="0"/>
                        </a:rPr>
                        <a:t>SNACK</a:t>
                      </a:r>
                    </a:p>
                    <a:p>
                      <a:pPr fontAlgn="t"/>
                      <a:r>
                        <a:rPr lang="en-IN" b="0" i="0">
                          <a:effectLst/>
                          <a:latin typeface="Segoe UI" panose="020B0502040204020203" pitchFamily="34" charset="0"/>
                        </a:rPr>
                        <a:t>Greek yogurt + nuts</a:t>
                      </a:r>
                    </a:p>
                    <a:p>
                      <a:pPr fontAlgn="t"/>
                      <a:r>
                        <a:rPr lang="en-IN" b="1" i="0">
                          <a:effectLst/>
                          <a:latin typeface="Segoe UI" panose="020B0502040204020203" pitchFamily="34" charset="0"/>
                        </a:rPr>
                        <a:t>DINNER</a:t>
                      </a:r>
                    </a:p>
                    <a:p>
                      <a:pPr fontAlgn="t"/>
                      <a:r>
                        <a:rPr lang="en-IN" b="0" i="0">
                          <a:effectLst/>
                          <a:latin typeface="Segoe UI" panose="020B0502040204020203" pitchFamily="34" charset="0"/>
                        </a:rPr>
                        <a:t>Egg curry + chapati + salad</a:t>
                      </a:r>
                    </a:p>
                  </a:txBody>
                  <a:tcPr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1042226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715218195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221DAE98-FCF2-4F73-B823-68B7027F27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2591448"/>
              </p:ext>
            </p:extLst>
          </p:nvPr>
        </p:nvGraphicFramePr>
        <p:xfrm>
          <a:off x="6324600" y="1201617"/>
          <a:ext cx="2931459" cy="3474720"/>
        </p:xfrm>
        <a:graphic>
          <a:graphicData uri="http://schemas.openxmlformats.org/drawingml/2006/table">
            <a:tbl>
              <a:tblPr/>
              <a:tblGrid>
                <a:gridCol w="2931459">
                  <a:extLst>
                    <a:ext uri="{9D8B030D-6E8A-4147-A177-3AD203B41FA5}">
                      <a16:colId xmlns:a16="http://schemas.microsoft.com/office/drawing/2014/main" val="18885057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/>
                      <a:r>
                        <a:rPr lang="en-IN" b="1" i="0">
                          <a:effectLst/>
                          <a:latin typeface="Segoe UI" panose="020B0502040204020203" pitchFamily="34" charset="0"/>
                        </a:rPr>
                        <a:t>NON VEGETARIAN</a:t>
                      </a:r>
                    </a:p>
                    <a:p>
                      <a:pPr fontAlgn="t"/>
                      <a:r>
                        <a:rPr lang="en-IN" b="1" i="0">
                          <a:effectLst/>
                          <a:latin typeface="Segoe UI" panose="020B0502040204020203" pitchFamily="34" charset="0"/>
                        </a:rPr>
                        <a:t>BREAKFAST</a:t>
                      </a:r>
                    </a:p>
                    <a:p>
                      <a:pPr fontAlgn="t"/>
                      <a:r>
                        <a:rPr lang="en-IN" b="0" i="0">
                          <a:effectLst/>
                          <a:latin typeface="Segoe UI" panose="020B0502040204020203" pitchFamily="34" charset="0"/>
                        </a:rPr>
                        <a:t>Egg omelette + milk</a:t>
                      </a:r>
                    </a:p>
                    <a:p>
                      <a:pPr fontAlgn="t"/>
                      <a:r>
                        <a:rPr lang="en-IN" b="1" i="0">
                          <a:effectLst/>
                          <a:latin typeface="Segoe UI" panose="020B0502040204020203" pitchFamily="34" charset="0"/>
                        </a:rPr>
                        <a:t>LUNCH</a:t>
                      </a:r>
                    </a:p>
                    <a:p>
                      <a:pPr fontAlgn="t"/>
                      <a:r>
                        <a:rPr lang="en-IN" b="0" i="0">
                          <a:effectLst/>
                          <a:latin typeface="Segoe UI" panose="020B0502040204020203" pitchFamily="34" charset="0"/>
                        </a:rPr>
                        <a:t>Grilled fish/chicken + vegetables</a:t>
                      </a:r>
                    </a:p>
                    <a:p>
                      <a:pPr fontAlgn="t"/>
                      <a:r>
                        <a:rPr lang="en-IN" b="1" i="0">
                          <a:effectLst/>
                          <a:latin typeface="Segoe UI" panose="020B0502040204020203" pitchFamily="34" charset="0"/>
                        </a:rPr>
                        <a:t>SNACK</a:t>
                      </a:r>
                    </a:p>
                    <a:p>
                      <a:pPr fontAlgn="t"/>
                      <a:r>
                        <a:rPr lang="en-IN" b="0" i="0">
                          <a:effectLst/>
                          <a:latin typeface="Segoe UI" panose="020B0502040204020203" pitchFamily="34" charset="0"/>
                        </a:rPr>
                        <a:t>Fruit + yogurt</a:t>
                      </a:r>
                    </a:p>
                    <a:p>
                      <a:pPr fontAlgn="t"/>
                      <a:r>
                        <a:rPr lang="en-IN" b="1" i="0">
                          <a:effectLst/>
                          <a:latin typeface="Segoe UI" panose="020B0502040204020203" pitchFamily="34" charset="0"/>
                        </a:rPr>
                        <a:t>DINNER</a:t>
                      </a:r>
                    </a:p>
                    <a:p>
                      <a:pPr fontAlgn="t"/>
                      <a:r>
                        <a:rPr lang="en-IN" b="0" i="0">
                          <a:effectLst/>
                          <a:latin typeface="Segoe UI" panose="020B0502040204020203" pitchFamily="34" charset="0"/>
                        </a:rPr>
                        <a:t>Chicken curry + salad + chapati</a:t>
                      </a:r>
                    </a:p>
                  </a:txBody>
                  <a:tcPr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3116245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769440664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5FD4E5ED-F425-41C3-82F6-FDC22F4D2D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9760510"/>
              </p:ext>
            </p:extLst>
          </p:nvPr>
        </p:nvGraphicFramePr>
        <p:xfrm>
          <a:off x="9368119" y="1201617"/>
          <a:ext cx="2566146" cy="3749040"/>
        </p:xfrm>
        <a:graphic>
          <a:graphicData uri="http://schemas.openxmlformats.org/drawingml/2006/table">
            <a:tbl>
              <a:tblPr/>
              <a:tblGrid>
                <a:gridCol w="2566146">
                  <a:extLst>
                    <a:ext uri="{9D8B030D-6E8A-4147-A177-3AD203B41FA5}">
                      <a16:colId xmlns:a16="http://schemas.microsoft.com/office/drawing/2014/main" val="43916292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/>
                      <a:r>
                        <a:rPr lang="en-IN" b="1" i="0">
                          <a:effectLst/>
                          <a:latin typeface="Segoe UI" panose="020B0502040204020203" pitchFamily="34" charset="0"/>
                        </a:rPr>
                        <a:t>VEGAN</a:t>
                      </a:r>
                    </a:p>
                    <a:p>
                      <a:pPr fontAlgn="t"/>
                      <a:r>
                        <a:rPr lang="en-IN" b="1" i="0">
                          <a:effectLst/>
                          <a:latin typeface="Segoe UI" panose="020B0502040204020203" pitchFamily="34" charset="0"/>
                        </a:rPr>
                        <a:t>BREAKFAST</a:t>
                      </a:r>
                    </a:p>
                    <a:p>
                      <a:pPr fontAlgn="t"/>
                      <a:r>
                        <a:rPr lang="en-IN" b="0" i="0">
                          <a:effectLst/>
                          <a:latin typeface="Segoe UI" panose="020B0502040204020203" pitchFamily="34" charset="0"/>
                        </a:rPr>
                        <a:t>Fortified soy milk + oats</a:t>
                      </a:r>
                    </a:p>
                    <a:p>
                      <a:pPr fontAlgn="t"/>
                      <a:r>
                        <a:rPr lang="en-IN" b="1" i="0">
                          <a:effectLst/>
                          <a:latin typeface="Segoe UI" panose="020B0502040204020203" pitchFamily="34" charset="0"/>
                        </a:rPr>
                        <a:t>LUNCH</a:t>
                      </a:r>
                    </a:p>
                    <a:p>
                      <a:pPr fontAlgn="t"/>
                      <a:r>
                        <a:rPr lang="en-IN" b="0" i="0">
                          <a:effectLst/>
                          <a:latin typeface="Segoe UI" panose="020B0502040204020203" pitchFamily="34" charset="0"/>
                        </a:rPr>
                        <a:t>Tofu bowl + quinoa + vegetables</a:t>
                      </a:r>
                    </a:p>
                    <a:p>
                      <a:pPr fontAlgn="t"/>
                      <a:r>
                        <a:rPr lang="en-IN" b="1" i="0">
                          <a:effectLst/>
                          <a:latin typeface="Segoe UI" panose="020B0502040204020203" pitchFamily="34" charset="0"/>
                        </a:rPr>
                        <a:t>SNACK</a:t>
                      </a:r>
                    </a:p>
                    <a:p>
                      <a:pPr fontAlgn="t"/>
                      <a:r>
                        <a:rPr lang="en-IN" b="0" i="0">
                          <a:effectLst/>
                          <a:latin typeface="Segoe UI" panose="020B0502040204020203" pitchFamily="34" charset="0"/>
                        </a:rPr>
                        <a:t>Almonds + fruit</a:t>
                      </a:r>
                    </a:p>
                    <a:p>
                      <a:pPr fontAlgn="t"/>
                      <a:r>
                        <a:rPr lang="en-IN" b="1" i="0">
                          <a:effectLst/>
                          <a:latin typeface="Segoe UI" panose="020B0502040204020203" pitchFamily="34" charset="0"/>
                        </a:rPr>
                        <a:t>DINNER</a:t>
                      </a:r>
                    </a:p>
                    <a:p>
                      <a:pPr fontAlgn="t"/>
                      <a:r>
                        <a:rPr lang="en-IN" b="0" i="0">
                          <a:effectLst/>
                          <a:latin typeface="Segoe UI" panose="020B0502040204020203" pitchFamily="34" charset="0"/>
                        </a:rPr>
                        <a:t>Lentils + tofu + vegetables</a:t>
                      </a:r>
                    </a:p>
                  </a:txBody>
                  <a:tcPr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2297062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672838000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8DA31079-F9F4-42FF-8ABC-8B1A8812AA14}"/>
              </a:ext>
            </a:extLst>
          </p:cNvPr>
          <p:cNvSpPr txBox="1"/>
          <p:nvPr/>
        </p:nvSpPr>
        <p:spPr>
          <a:xfrm>
            <a:off x="266701" y="5396367"/>
            <a:ext cx="1123053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3-2-1 BONE SIP RULE</a:t>
            </a:r>
          </a:p>
          <a:p>
            <a:r>
              <a:rPr lang="en-US" dirty="0"/>
              <a:t>✅ 3 Calcium-rich foods</a:t>
            </a:r>
          </a:p>
          <a:p>
            <a:r>
              <a:rPr lang="en-US" dirty="0"/>
              <a:t>✅ 2 Protein servings</a:t>
            </a:r>
          </a:p>
          <a:p>
            <a:r>
              <a:rPr lang="en-US" dirty="0"/>
              <a:t>✅ 1 Vitamin D source daily</a:t>
            </a:r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B6F5FCF-5249-40A1-B06F-B8949BA4D6EF}"/>
              </a:ext>
            </a:extLst>
          </p:cNvPr>
          <p:cNvSpPr txBox="1"/>
          <p:nvPr/>
        </p:nvSpPr>
        <p:spPr>
          <a:xfrm>
            <a:off x="6911788" y="6322880"/>
            <a:ext cx="5323960" cy="344710"/>
          </a:xfrm>
          <a:prstGeom prst="rect">
            <a:avLst/>
          </a:prstGeom>
          <a:solidFill>
            <a:schemeClr val="accent2"/>
          </a:solidFill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Can we do anything else via AI </a:t>
            </a:r>
          </a:p>
        </p:txBody>
      </p:sp>
    </p:spTree>
    <p:extLst>
      <p:ext uri="{BB962C8B-B14F-4D97-AF65-F5344CB8AC3E}">
        <p14:creationId xmlns:p14="http://schemas.microsoft.com/office/powerpoint/2010/main" val="29433585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179D0F8-1CEF-41D4-B0F1-A8AA8C218EDA}"/>
              </a:ext>
            </a:extLst>
          </p:cNvPr>
          <p:cNvSpPr/>
          <p:nvPr/>
        </p:nvSpPr>
        <p:spPr>
          <a:xfrm>
            <a:off x="1" y="120506"/>
            <a:ext cx="1855694" cy="448056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>
                <a:solidFill>
                  <a:schemeClr val="tx1"/>
                </a:solidFill>
              </a:rPr>
              <a:t>PAGE 8</a:t>
            </a:r>
            <a:endParaRPr lang="en-IN" sz="2000" b="1" dirty="0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12C4269-3C3A-4D16-824E-A4DDFE8259B2}"/>
              </a:ext>
            </a:extLst>
          </p:cNvPr>
          <p:cNvSpPr txBox="1"/>
          <p:nvPr/>
        </p:nvSpPr>
        <p:spPr>
          <a:xfrm>
            <a:off x="2027141" y="1473342"/>
            <a:ext cx="810409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Bone health isn't built in a day.</a:t>
            </a:r>
          </a:p>
          <a:p>
            <a:pPr algn="ctr"/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It's built through habits repeated consistently.</a:t>
            </a:r>
            <a:endParaRPr lang="en-IN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2966146-646A-4D08-9B24-713527C55B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525282"/>
              </p:ext>
            </p:extLst>
          </p:nvPr>
        </p:nvGraphicFramePr>
        <p:xfrm>
          <a:off x="1638299" y="2342421"/>
          <a:ext cx="2191871" cy="2377440"/>
        </p:xfrm>
        <a:graphic>
          <a:graphicData uri="http://schemas.openxmlformats.org/drawingml/2006/table">
            <a:tbl>
              <a:tblPr/>
              <a:tblGrid>
                <a:gridCol w="2191871">
                  <a:extLst>
                    <a:ext uri="{9D8B030D-6E8A-4147-A177-3AD203B41FA5}">
                      <a16:colId xmlns:a16="http://schemas.microsoft.com/office/drawing/2014/main" val="167552533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/>
                      <a:r>
                        <a:rPr lang="en-US" b="1" i="0" dirty="0">
                          <a:effectLst/>
                          <a:latin typeface="Segoe UI" panose="020B0502040204020203" pitchFamily="34" charset="0"/>
                        </a:rPr>
                        <a:t>MORNING SIP</a:t>
                      </a:r>
                    </a:p>
                    <a:p>
                      <a:pPr fontAlgn="t"/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✓ Wake-up stretch</a:t>
                      </a:r>
                    </a:p>
                    <a:p>
                      <a:pPr fontAlgn="t"/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✓ 15-20 min walk</a:t>
                      </a:r>
                    </a:p>
                    <a:p>
                      <a:pPr fontAlgn="t"/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✓ Protein-rich breakfast</a:t>
                      </a:r>
                    </a:p>
                    <a:p>
                      <a:pPr fontAlgn="t"/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✓ Sunlight exposure</a:t>
                      </a:r>
                    </a:p>
                  </a:txBody>
                  <a:tcPr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6410097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652111038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70AC4CD7-A888-4032-9C83-E17106768F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5191824"/>
              </p:ext>
            </p:extLst>
          </p:nvPr>
        </p:nvGraphicFramePr>
        <p:xfrm>
          <a:off x="4045322" y="2369763"/>
          <a:ext cx="2026024" cy="1828800"/>
        </p:xfrm>
        <a:graphic>
          <a:graphicData uri="http://schemas.openxmlformats.org/drawingml/2006/table">
            <a:tbl>
              <a:tblPr/>
              <a:tblGrid>
                <a:gridCol w="2026024">
                  <a:extLst>
                    <a:ext uri="{9D8B030D-6E8A-4147-A177-3AD203B41FA5}">
                      <a16:colId xmlns:a16="http://schemas.microsoft.com/office/drawing/2014/main" val="254865918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/>
                      <a:r>
                        <a:rPr lang="en-US" b="1" i="0" dirty="0">
                          <a:effectLst/>
                          <a:latin typeface="Segoe UI" panose="020B0502040204020203" pitchFamily="34" charset="0"/>
                        </a:rPr>
                        <a:t>MIDDAY SIP</a:t>
                      </a:r>
                    </a:p>
                    <a:p>
                      <a:pPr fontAlgn="t"/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✓ Balanced lunch</a:t>
                      </a:r>
                    </a:p>
                    <a:p>
                      <a:pPr fontAlgn="t"/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✓ Hydration</a:t>
                      </a:r>
                    </a:p>
                    <a:p>
                      <a:pPr fontAlgn="t"/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✓ Stand &amp; move every hour</a:t>
                      </a:r>
                    </a:p>
                  </a:txBody>
                  <a:tcPr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2452681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442300375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EB6D8A95-46A8-4DD5-8F72-73F16105CB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9146128"/>
              </p:ext>
            </p:extLst>
          </p:nvPr>
        </p:nvGraphicFramePr>
        <p:xfrm>
          <a:off x="6286498" y="2343445"/>
          <a:ext cx="2191871" cy="1554480"/>
        </p:xfrm>
        <a:graphic>
          <a:graphicData uri="http://schemas.openxmlformats.org/drawingml/2006/table">
            <a:tbl>
              <a:tblPr/>
              <a:tblGrid>
                <a:gridCol w="2191871">
                  <a:extLst>
                    <a:ext uri="{9D8B030D-6E8A-4147-A177-3AD203B41FA5}">
                      <a16:colId xmlns:a16="http://schemas.microsoft.com/office/drawing/2014/main" val="202452384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/>
                      <a:r>
                        <a:rPr lang="en-US" b="1" i="0">
                          <a:effectLst/>
                          <a:latin typeface="Segoe UI" panose="020B0502040204020203" pitchFamily="34" charset="0"/>
                        </a:rPr>
                        <a:t>EVENING SIP</a:t>
                      </a:r>
                    </a:p>
                    <a:p>
                      <a:pPr fontAlgn="t"/>
                      <a:r>
                        <a:rPr lang="en-US" b="0" i="0">
                          <a:effectLst/>
                          <a:latin typeface="Segoe UI" panose="020B0502040204020203" pitchFamily="34" charset="0"/>
                        </a:rPr>
                        <a:t>✓ Strength exercise</a:t>
                      </a:r>
                    </a:p>
                    <a:p>
                      <a:pPr fontAlgn="t"/>
                      <a:r>
                        <a:rPr lang="en-US" b="0" i="0">
                          <a:effectLst/>
                          <a:latin typeface="Segoe UI" panose="020B0502040204020203" pitchFamily="34" charset="0"/>
                        </a:rPr>
                        <a:t>✓ Balance practice</a:t>
                      </a:r>
                    </a:p>
                    <a:p>
                      <a:pPr fontAlgn="t"/>
                      <a:r>
                        <a:rPr lang="en-US" b="0" i="0">
                          <a:effectLst/>
                          <a:latin typeface="Segoe UI" panose="020B0502040204020203" pitchFamily="34" charset="0"/>
                        </a:rPr>
                        <a:t>✓ Healthy snack</a:t>
                      </a:r>
                    </a:p>
                  </a:txBody>
                  <a:tcPr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6398813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953607396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DF82FA5D-C70C-46DA-A1EB-E50829840F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1134675"/>
              </p:ext>
            </p:extLst>
          </p:nvPr>
        </p:nvGraphicFramePr>
        <p:xfrm>
          <a:off x="8673355" y="2304339"/>
          <a:ext cx="2348753" cy="2103120"/>
        </p:xfrm>
        <a:graphic>
          <a:graphicData uri="http://schemas.openxmlformats.org/drawingml/2006/table">
            <a:tbl>
              <a:tblPr/>
              <a:tblGrid>
                <a:gridCol w="2348753">
                  <a:extLst>
                    <a:ext uri="{9D8B030D-6E8A-4147-A177-3AD203B41FA5}">
                      <a16:colId xmlns:a16="http://schemas.microsoft.com/office/drawing/2014/main" val="392767416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/>
                      <a:r>
                        <a:rPr lang="en-US" b="1" i="0">
                          <a:effectLst/>
                          <a:latin typeface="Segoe UI" panose="020B0502040204020203" pitchFamily="34" charset="0"/>
                        </a:rPr>
                        <a:t>NIGHT SIP</a:t>
                      </a:r>
                    </a:p>
                    <a:p>
                      <a:pPr fontAlgn="t"/>
                      <a:r>
                        <a:rPr lang="en-US" b="0" i="0">
                          <a:effectLst/>
                          <a:latin typeface="Segoe UI" panose="020B0502040204020203" pitchFamily="34" charset="0"/>
                        </a:rPr>
                        <a:t>✓ Protein-containing dinner</a:t>
                      </a:r>
                    </a:p>
                    <a:p>
                      <a:pPr fontAlgn="t"/>
                      <a:r>
                        <a:rPr lang="en-US" b="0" i="0">
                          <a:effectLst/>
                          <a:latin typeface="Segoe UI" panose="020B0502040204020203" pitchFamily="34" charset="0"/>
                        </a:rPr>
                        <a:t>✓ Home safety check</a:t>
                      </a:r>
                    </a:p>
                    <a:p>
                      <a:pPr fontAlgn="t"/>
                      <a:r>
                        <a:rPr lang="en-US" b="0" i="0">
                          <a:effectLst/>
                          <a:latin typeface="Segoe UI" panose="020B0502040204020203" pitchFamily="34" charset="0"/>
                        </a:rPr>
                        <a:t>✓ Plan tomorrow's activity</a:t>
                      </a:r>
                    </a:p>
                  </a:txBody>
                  <a:tcPr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1518211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811199854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5A7B034E-FAEA-4EF4-8F89-D46A17A9649C}"/>
              </a:ext>
            </a:extLst>
          </p:cNvPr>
          <p:cNvSpPr txBox="1"/>
          <p:nvPr/>
        </p:nvSpPr>
        <p:spPr>
          <a:xfrm>
            <a:off x="1398495" y="4983168"/>
            <a:ext cx="9623614" cy="147732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b="1" dirty="0"/>
              <a:t>THE BONE SIP RULE</a:t>
            </a:r>
          </a:p>
          <a:p>
            <a:r>
              <a:rPr lang="en-US" dirty="0"/>
              <a:t>Move daily.</a:t>
            </a:r>
          </a:p>
          <a:p>
            <a:r>
              <a:rPr lang="en-US" dirty="0"/>
              <a:t>Eat smart.</a:t>
            </a:r>
          </a:p>
          <a:p>
            <a:r>
              <a:rPr lang="en-US" dirty="0"/>
              <a:t>Stay consistent.</a:t>
            </a:r>
          </a:p>
          <a:p>
            <a:r>
              <a:rPr lang="en-US" dirty="0"/>
              <a:t>Your bones benefit from what you do repeatedly.</a:t>
            </a:r>
            <a:endParaRPr lang="en-IN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0A3C414-37A6-40A0-94E1-2F1ABB1286D4}"/>
              </a:ext>
            </a:extLst>
          </p:cNvPr>
          <p:cNvSpPr txBox="1"/>
          <p:nvPr/>
        </p:nvSpPr>
        <p:spPr>
          <a:xfrm>
            <a:off x="3046880" y="117957"/>
            <a:ext cx="60982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THE BONE SIP BUILD FORMULA</a:t>
            </a:r>
            <a:endParaRPr lang="en-IN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571C826-B6F6-445C-A032-5746213E318E}"/>
              </a:ext>
            </a:extLst>
          </p:cNvPr>
          <p:cNvSpPr txBox="1"/>
          <p:nvPr/>
        </p:nvSpPr>
        <p:spPr>
          <a:xfrm>
            <a:off x="2027141" y="866161"/>
            <a:ext cx="8350626" cy="584775"/>
          </a:xfrm>
          <a:prstGeom prst="rect">
            <a:avLst/>
          </a:prstGeom>
          <a:solidFill>
            <a:srgbClr val="92D050"/>
          </a:solidFill>
        </p:spPr>
        <p:txBody>
          <a:bodyPr wrap="square">
            <a:spAutoFit/>
          </a:bodyPr>
          <a:lstStyle/>
          <a:p>
            <a:pPr algn="ctr"/>
            <a:r>
              <a:rPr lang="en-US" sz="3200" dirty="0">
                <a:latin typeface="Cambria" panose="02040503050406030204" pitchFamily="18" charset="0"/>
                <a:ea typeface="Cambria" panose="02040503050406030204" pitchFamily="18" charset="0"/>
              </a:rPr>
              <a:t>SMALL INVESTMENTS.BIG RETURNS.</a:t>
            </a:r>
          </a:p>
        </p:txBody>
      </p:sp>
    </p:spTree>
    <p:extLst>
      <p:ext uri="{BB962C8B-B14F-4D97-AF65-F5344CB8AC3E}">
        <p14:creationId xmlns:p14="http://schemas.microsoft.com/office/powerpoint/2010/main" val="15721936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179D0F8-1CEF-41D4-B0F1-A8AA8C218EDA}"/>
              </a:ext>
            </a:extLst>
          </p:cNvPr>
          <p:cNvSpPr/>
          <p:nvPr/>
        </p:nvSpPr>
        <p:spPr>
          <a:xfrm>
            <a:off x="1" y="120506"/>
            <a:ext cx="1855694" cy="448056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>
                <a:solidFill>
                  <a:schemeClr val="tx1"/>
                </a:solidFill>
              </a:rPr>
              <a:t>PAGE 9</a:t>
            </a:r>
            <a:endParaRPr lang="en-IN" sz="2000" b="1" dirty="0">
              <a:solidFill>
                <a:schemeClr val="tx1"/>
              </a:solidFill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F938858-42E3-4F6D-AA7C-A33F7EB014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6677082"/>
              </p:ext>
            </p:extLst>
          </p:nvPr>
        </p:nvGraphicFramePr>
        <p:xfrm>
          <a:off x="2178423" y="1445162"/>
          <a:ext cx="7835153" cy="2103120"/>
        </p:xfrm>
        <a:graphic>
          <a:graphicData uri="http://schemas.openxmlformats.org/drawingml/2006/table">
            <a:tbl>
              <a:tblPr/>
              <a:tblGrid>
                <a:gridCol w="7835153">
                  <a:extLst>
                    <a:ext uri="{9D8B030D-6E8A-4147-A177-3AD203B41FA5}">
                      <a16:colId xmlns:a16="http://schemas.microsoft.com/office/drawing/2014/main" val="368741466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/>
                      <a:r>
                        <a:rPr lang="en-US" b="1" i="0" dirty="0">
                          <a:effectLst/>
                          <a:latin typeface="Segoe UI" panose="020B0502040204020203" pitchFamily="34" charset="0"/>
                        </a:rPr>
                        <a:t>YOUR BODY WAS BUILT TO MOVE.</a:t>
                      </a:r>
                    </a:p>
                    <a:p>
                      <a:pPr fontAlgn="t"/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When movement decreases:</a:t>
                      </a:r>
                    </a:p>
                    <a:p>
                      <a:pPr fontAlgn="t"/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• Muscles weaken</a:t>
                      </a:r>
                    </a:p>
                    <a:p>
                      <a:pPr fontAlgn="t"/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• Balance declines</a:t>
                      </a:r>
                    </a:p>
                    <a:p>
                      <a:pPr fontAlgn="t"/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• Falls become more likely</a:t>
                      </a:r>
                    </a:p>
                    <a:p>
                      <a:pPr fontAlgn="t"/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• Bones receive less stimulation</a:t>
                      </a:r>
                    </a:p>
                  </a:txBody>
                  <a:tcPr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7231164"/>
                  </a:ext>
                </a:extLst>
              </a:tr>
              <a:tr h="11974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982924698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D369322-CD14-47D3-ADAC-DFC6D2B460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2447706"/>
              </p:ext>
            </p:extLst>
          </p:nvPr>
        </p:nvGraphicFramePr>
        <p:xfrm>
          <a:off x="838200" y="7699534"/>
          <a:ext cx="10515600" cy="237744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42403210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/>
                      <a:r>
                        <a:rPr lang="en-US" b="1" i="0">
                          <a:effectLst/>
                          <a:latin typeface="Segoe UI" panose="020B0502040204020203" pitchFamily="34" charset="0"/>
                        </a:rPr>
                        <a:t>STRENGTH</a:t>
                      </a:r>
                    </a:p>
                    <a:p>
                      <a:pPr fontAlgn="t"/>
                      <a:r>
                        <a:rPr lang="en-US" b="0" i="0">
                          <a:effectLst/>
                          <a:latin typeface="Segoe UI" panose="020B0502040204020203" pitchFamily="34" charset="0"/>
                        </a:rPr>
                        <a:t>Build muscle support around bones.</a:t>
                      </a:r>
                    </a:p>
                    <a:p>
                      <a:pPr fontAlgn="t"/>
                      <a:r>
                        <a:rPr lang="en-US" b="0" i="0">
                          <a:effectLst/>
                          <a:latin typeface="Segoe UI" panose="020B0502040204020203" pitchFamily="34" charset="0"/>
                        </a:rPr>
                        <a:t>Examples:</a:t>
                      </a:r>
                    </a:p>
                    <a:p>
                      <a:pPr fontAlgn="t"/>
                      <a:r>
                        <a:rPr lang="en-US" b="0" i="0">
                          <a:effectLst/>
                          <a:latin typeface="Segoe UI" panose="020B0502040204020203" pitchFamily="34" charset="0"/>
                        </a:rPr>
                        <a:t>✓ Sit-to-Stand</a:t>
                      </a:r>
                    </a:p>
                    <a:p>
                      <a:pPr fontAlgn="t"/>
                      <a:r>
                        <a:rPr lang="en-US" b="0" i="0">
                          <a:effectLst/>
                          <a:latin typeface="Segoe UI" panose="020B0502040204020203" pitchFamily="34" charset="0"/>
                        </a:rPr>
                        <a:t>✓ Wall Push-Ups</a:t>
                      </a:r>
                    </a:p>
                    <a:p>
                      <a:pPr fontAlgn="t"/>
                      <a:r>
                        <a:rPr lang="en-US" b="0" i="0">
                          <a:effectLst/>
                          <a:latin typeface="Segoe UI" panose="020B0502040204020203" pitchFamily="34" charset="0"/>
                        </a:rPr>
                        <a:t>✓ Resistance Band Rows</a:t>
                      </a:r>
                    </a:p>
                    <a:p>
                      <a:pPr fontAlgn="t"/>
                      <a:r>
                        <a:rPr lang="en-US" b="0" i="0">
                          <a:effectLst/>
                          <a:latin typeface="Segoe UI" panose="020B0502040204020203" pitchFamily="34" charset="0"/>
                        </a:rPr>
                        <a:t>✓ Step-Ups</a:t>
                      </a:r>
                    </a:p>
                  </a:txBody>
                  <a:tcPr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2356540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75149823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B3CC7396-C4C6-483A-8323-23EA744D5D92}"/>
              </a:ext>
            </a:extLst>
          </p:cNvPr>
          <p:cNvSpPr txBox="1"/>
          <p:nvPr/>
        </p:nvSpPr>
        <p:spPr>
          <a:xfrm>
            <a:off x="3046880" y="117957"/>
            <a:ext cx="60982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THE BONE SIP BUILD FORMULA</a:t>
            </a:r>
            <a:endParaRPr lang="en-IN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88DEADD-3B95-4EC2-AF7B-E7EBE5BD7AAA}"/>
              </a:ext>
            </a:extLst>
          </p:cNvPr>
          <p:cNvSpPr txBox="1"/>
          <p:nvPr/>
        </p:nvSpPr>
        <p:spPr>
          <a:xfrm>
            <a:off x="1920687" y="866161"/>
            <a:ext cx="8350626" cy="584775"/>
          </a:xfrm>
          <a:prstGeom prst="rect">
            <a:avLst/>
          </a:prstGeom>
          <a:solidFill>
            <a:srgbClr val="92D050"/>
          </a:solidFill>
        </p:spPr>
        <p:txBody>
          <a:bodyPr wrap="square">
            <a:spAutoFit/>
          </a:bodyPr>
          <a:lstStyle/>
          <a:p>
            <a:pPr algn="ctr" fontAlgn="t"/>
            <a:r>
              <a:rPr lang="en-US" sz="3200" b="1" i="0" dirty="0">
                <a:effectLst/>
                <a:latin typeface="Segoe UI" panose="020B0502040204020203" pitchFamily="34" charset="0"/>
              </a:rPr>
              <a:t>MOVE. STRENGTHEN. PROGRESS.</a:t>
            </a:r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69C31D52-7110-4194-9486-C7D007FDAB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2282837"/>
              </p:ext>
            </p:extLst>
          </p:nvPr>
        </p:nvGraphicFramePr>
        <p:xfrm>
          <a:off x="1402976" y="3309718"/>
          <a:ext cx="2604247" cy="2926080"/>
        </p:xfrm>
        <a:graphic>
          <a:graphicData uri="http://schemas.openxmlformats.org/drawingml/2006/table">
            <a:tbl>
              <a:tblPr/>
              <a:tblGrid>
                <a:gridCol w="2604247">
                  <a:extLst>
                    <a:ext uri="{9D8B030D-6E8A-4147-A177-3AD203B41FA5}">
                      <a16:colId xmlns:a16="http://schemas.microsoft.com/office/drawing/2014/main" val="96198771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/>
                      <a:r>
                        <a:rPr lang="en-US" b="1" i="0" dirty="0">
                          <a:effectLst/>
                          <a:latin typeface="Segoe UI" panose="020B0502040204020203" pitchFamily="34" charset="0"/>
                        </a:rPr>
                        <a:t>STRENGTH</a:t>
                      </a:r>
                    </a:p>
                    <a:p>
                      <a:pPr fontAlgn="t"/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Build muscle support around bones.</a:t>
                      </a:r>
                    </a:p>
                    <a:p>
                      <a:pPr fontAlgn="t"/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Examples:</a:t>
                      </a:r>
                    </a:p>
                    <a:p>
                      <a:pPr fontAlgn="t"/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✓ Sit-to-Stand</a:t>
                      </a:r>
                    </a:p>
                    <a:p>
                      <a:pPr fontAlgn="t"/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✓ Wall Push-Ups</a:t>
                      </a:r>
                    </a:p>
                    <a:p>
                      <a:pPr fontAlgn="t"/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✓ Resistance Band Rows</a:t>
                      </a:r>
                    </a:p>
                    <a:p>
                      <a:pPr fontAlgn="t"/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✓ Step-Ups</a:t>
                      </a:r>
                    </a:p>
                  </a:txBody>
                  <a:tcPr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5902601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666951787"/>
                  </a:ext>
                </a:extLst>
              </a:tr>
            </a:tbl>
          </a:graphicData>
        </a:graphic>
      </p:graphicFrame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5B16AB70-8BB4-46A4-B8C9-D447217A07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4035997"/>
              </p:ext>
            </p:extLst>
          </p:nvPr>
        </p:nvGraphicFramePr>
        <p:xfrm>
          <a:off x="4132729" y="3309718"/>
          <a:ext cx="2232211" cy="2103120"/>
        </p:xfrm>
        <a:graphic>
          <a:graphicData uri="http://schemas.openxmlformats.org/drawingml/2006/table">
            <a:tbl>
              <a:tblPr/>
              <a:tblGrid>
                <a:gridCol w="2232211">
                  <a:extLst>
                    <a:ext uri="{9D8B030D-6E8A-4147-A177-3AD203B41FA5}">
                      <a16:colId xmlns:a16="http://schemas.microsoft.com/office/drawing/2014/main" val="329063029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/>
                      <a:r>
                        <a:rPr lang="en-US" b="1" i="0">
                          <a:effectLst/>
                          <a:latin typeface="Segoe UI" panose="020B0502040204020203" pitchFamily="34" charset="0"/>
                        </a:rPr>
                        <a:t>BALANCE</a:t>
                      </a:r>
                    </a:p>
                    <a:p>
                      <a:pPr fontAlgn="t"/>
                      <a:r>
                        <a:rPr lang="en-US" b="0" i="0">
                          <a:effectLst/>
                          <a:latin typeface="Segoe UI" panose="020B0502040204020203" pitchFamily="34" charset="0"/>
                        </a:rPr>
                        <a:t>Improve stability.</a:t>
                      </a:r>
                    </a:p>
                    <a:p>
                      <a:pPr fontAlgn="t"/>
                      <a:r>
                        <a:rPr lang="en-US" b="0" i="0">
                          <a:effectLst/>
                          <a:latin typeface="Segoe UI" panose="020B0502040204020203" pitchFamily="34" charset="0"/>
                        </a:rPr>
                        <a:t>Examples:</a:t>
                      </a:r>
                    </a:p>
                    <a:p>
                      <a:pPr fontAlgn="t"/>
                      <a:r>
                        <a:rPr lang="en-US" b="0" i="0">
                          <a:effectLst/>
                          <a:latin typeface="Segoe UI" panose="020B0502040204020203" pitchFamily="34" charset="0"/>
                        </a:rPr>
                        <a:t>✓ Tandem Standing</a:t>
                      </a:r>
                    </a:p>
                    <a:p>
                      <a:pPr fontAlgn="t"/>
                      <a:r>
                        <a:rPr lang="en-US" b="0" i="0">
                          <a:effectLst/>
                          <a:latin typeface="Segoe UI" panose="020B0502040204020203" pitchFamily="34" charset="0"/>
                        </a:rPr>
                        <a:t>✓ Single-Leg Hold</a:t>
                      </a:r>
                    </a:p>
                    <a:p>
                      <a:pPr fontAlgn="t"/>
                      <a:r>
                        <a:rPr lang="en-US" b="0" i="0">
                          <a:effectLst/>
                          <a:latin typeface="Segoe UI" panose="020B0502040204020203" pitchFamily="34" charset="0"/>
                        </a:rPr>
                        <a:t>✓ Heel-To-Toe Walk</a:t>
                      </a:r>
                    </a:p>
                  </a:txBody>
                  <a:tcPr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2527226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187050569"/>
                  </a:ext>
                </a:extLst>
              </a:tr>
            </a:tbl>
          </a:graphicData>
        </a:graphic>
      </p:graphicFrame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1FE96513-D03A-4A14-BB4C-583E5D1C3B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260514"/>
              </p:ext>
            </p:extLst>
          </p:nvPr>
        </p:nvGraphicFramePr>
        <p:xfrm>
          <a:off x="6521823" y="3309718"/>
          <a:ext cx="1855694" cy="2926080"/>
        </p:xfrm>
        <a:graphic>
          <a:graphicData uri="http://schemas.openxmlformats.org/drawingml/2006/table">
            <a:tbl>
              <a:tblPr/>
              <a:tblGrid>
                <a:gridCol w="1855694">
                  <a:extLst>
                    <a:ext uri="{9D8B030D-6E8A-4147-A177-3AD203B41FA5}">
                      <a16:colId xmlns:a16="http://schemas.microsoft.com/office/drawing/2014/main" val="185173444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/>
                      <a:r>
                        <a:rPr lang="en-US" b="1" i="0">
                          <a:effectLst/>
                          <a:latin typeface="Segoe UI" panose="020B0502040204020203" pitchFamily="34" charset="0"/>
                        </a:rPr>
                        <a:t>FLEXIBILITY</a:t>
                      </a:r>
                    </a:p>
                    <a:p>
                      <a:pPr fontAlgn="t"/>
                      <a:r>
                        <a:rPr lang="en-US" b="0" i="0">
                          <a:effectLst/>
                          <a:latin typeface="Segoe UI" panose="020B0502040204020203" pitchFamily="34" charset="0"/>
                        </a:rPr>
                        <a:t>Maintain movement.</a:t>
                      </a:r>
                    </a:p>
                    <a:p>
                      <a:pPr fontAlgn="t"/>
                      <a:r>
                        <a:rPr lang="en-US" b="0" i="0">
                          <a:effectLst/>
                          <a:latin typeface="Segoe UI" panose="020B0502040204020203" pitchFamily="34" charset="0"/>
                        </a:rPr>
                        <a:t>Examples:</a:t>
                      </a:r>
                    </a:p>
                    <a:p>
                      <a:pPr fontAlgn="t"/>
                      <a:r>
                        <a:rPr lang="en-US" b="0" i="0">
                          <a:effectLst/>
                          <a:latin typeface="Segoe UI" panose="020B0502040204020203" pitchFamily="34" charset="0"/>
                        </a:rPr>
                        <a:t>✓ Calf Stretch</a:t>
                      </a:r>
                    </a:p>
                    <a:p>
                      <a:pPr fontAlgn="t"/>
                      <a:r>
                        <a:rPr lang="en-US" b="0" i="0">
                          <a:effectLst/>
                          <a:latin typeface="Segoe UI" panose="020B0502040204020203" pitchFamily="34" charset="0"/>
                        </a:rPr>
                        <a:t>✓ Hamstring Stretch</a:t>
                      </a:r>
                    </a:p>
                    <a:p>
                      <a:pPr fontAlgn="t"/>
                      <a:r>
                        <a:rPr lang="en-US" b="0" i="0">
                          <a:effectLst/>
                          <a:latin typeface="Segoe UI" panose="020B0502040204020203" pitchFamily="34" charset="0"/>
                        </a:rPr>
                        <a:t>✓ Shoulder Mobility</a:t>
                      </a:r>
                    </a:p>
                  </a:txBody>
                  <a:tcPr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3549348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491615792"/>
                  </a:ext>
                </a:extLst>
              </a:tr>
            </a:tbl>
          </a:graphicData>
        </a:graphic>
      </p:graphicFrame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2FD28C79-D10B-4CF0-B5B7-2BB9D9B148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688145"/>
              </p:ext>
            </p:extLst>
          </p:nvPr>
        </p:nvGraphicFramePr>
        <p:xfrm>
          <a:off x="8583706" y="3243579"/>
          <a:ext cx="2232211" cy="3200400"/>
        </p:xfrm>
        <a:graphic>
          <a:graphicData uri="http://schemas.openxmlformats.org/drawingml/2006/table">
            <a:tbl>
              <a:tblPr/>
              <a:tblGrid>
                <a:gridCol w="2232211">
                  <a:extLst>
                    <a:ext uri="{9D8B030D-6E8A-4147-A177-3AD203B41FA5}">
                      <a16:colId xmlns:a16="http://schemas.microsoft.com/office/drawing/2014/main" val="164853488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/>
                      <a:r>
                        <a:rPr lang="en-IN" b="1" i="0" dirty="0">
                          <a:effectLst/>
                          <a:latin typeface="Segoe UI" panose="020B0502040204020203" pitchFamily="34" charset="0"/>
                        </a:rPr>
                        <a:t>POSTURE</a:t>
                      </a:r>
                    </a:p>
                    <a:p>
                      <a:pPr fontAlgn="t"/>
                      <a:r>
                        <a:rPr lang="en-IN" b="0" i="0" dirty="0">
                          <a:effectLst/>
                          <a:latin typeface="Segoe UI" panose="020B0502040204020203" pitchFamily="34" charset="0"/>
                        </a:rPr>
                        <a:t>Support spinal alignment.</a:t>
                      </a:r>
                    </a:p>
                    <a:p>
                      <a:pPr fontAlgn="t"/>
                      <a:r>
                        <a:rPr lang="en-IN" b="0" i="0" dirty="0">
                          <a:effectLst/>
                          <a:latin typeface="Segoe UI" panose="020B0502040204020203" pitchFamily="34" charset="0"/>
                        </a:rPr>
                        <a:t>Examples:</a:t>
                      </a:r>
                    </a:p>
                    <a:p>
                      <a:pPr fontAlgn="t"/>
                      <a:r>
                        <a:rPr lang="en-IN" b="0" i="0" dirty="0">
                          <a:effectLst/>
                          <a:latin typeface="Segoe UI" panose="020B0502040204020203" pitchFamily="34" charset="0"/>
                        </a:rPr>
                        <a:t>✓ Shoulder Blade Squeeze</a:t>
                      </a:r>
                    </a:p>
                    <a:p>
                      <a:pPr fontAlgn="t"/>
                      <a:r>
                        <a:rPr lang="en-IN" b="0" i="0" dirty="0">
                          <a:effectLst/>
                          <a:latin typeface="Segoe UI" panose="020B0502040204020203" pitchFamily="34" charset="0"/>
                        </a:rPr>
                        <a:t>✓ Wall Alignment Exercise</a:t>
                      </a:r>
                    </a:p>
                    <a:p>
                      <a:pPr fontAlgn="t"/>
                      <a:r>
                        <a:rPr lang="en-IN" b="0" i="0" dirty="0">
                          <a:effectLst/>
                          <a:latin typeface="Segoe UI" panose="020B0502040204020203" pitchFamily="34" charset="0"/>
                        </a:rPr>
                        <a:t>✓ Gentle Back Extension</a:t>
                      </a:r>
                    </a:p>
                  </a:txBody>
                  <a:tcPr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5078605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4568178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878447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179D0F8-1CEF-41D4-B0F1-A8AA8C218EDA}"/>
              </a:ext>
            </a:extLst>
          </p:cNvPr>
          <p:cNvSpPr/>
          <p:nvPr/>
        </p:nvSpPr>
        <p:spPr>
          <a:xfrm>
            <a:off x="1" y="120506"/>
            <a:ext cx="1855694" cy="448056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>
                <a:solidFill>
                  <a:schemeClr val="tx1"/>
                </a:solidFill>
              </a:rPr>
              <a:t>PAGE 11</a:t>
            </a:r>
            <a:endParaRPr lang="en-IN" sz="2000" b="1" dirty="0">
              <a:solidFill>
                <a:schemeClr val="tx1"/>
              </a:solidFill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5360BF4-9024-44A6-A602-27C5878B2BF5}"/>
              </a:ext>
            </a:extLst>
          </p:cNvPr>
          <p:cNvGraphicFramePr>
            <a:graphicFrameLocks noGrp="1"/>
          </p:cNvGraphicFramePr>
          <p:nvPr/>
        </p:nvGraphicFramePr>
        <p:xfrm>
          <a:off x="367554" y="1563100"/>
          <a:ext cx="8005483" cy="1645920"/>
        </p:xfrm>
        <a:graphic>
          <a:graphicData uri="http://schemas.openxmlformats.org/drawingml/2006/table">
            <a:tbl>
              <a:tblPr/>
              <a:tblGrid>
                <a:gridCol w="8005483">
                  <a:extLst>
                    <a:ext uri="{9D8B030D-6E8A-4147-A177-3AD203B41FA5}">
                      <a16:colId xmlns:a16="http://schemas.microsoft.com/office/drawing/2014/main" val="22467646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/>
                      <a:r>
                        <a:rPr lang="en-US" b="1" i="0" dirty="0">
                          <a:effectLst/>
                          <a:latin typeface="Segoe UI" panose="020B0502040204020203" pitchFamily="34" charset="0"/>
                        </a:rPr>
                        <a:t>PROTECT YOUR BONE INVESTMENT.</a:t>
                      </a:r>
                    </a:p>
                    <a:p>
                      <a:pPr fontAlgn="t"/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You've spent years building your bone strength.</a:t>
                      </a:r>
                      <a:b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</a:br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A single fall can erode that investment in seconds.</a:t>
                      </a:r>
                    </a:p>
                  </a:txBody>
                  <a:tcPr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693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t"/>
                      <a:r>
                        <a:rPr lang="en-IN" b="0" i="0" dirty="0">
                          <a:effectLst/>
                          <a:latin typeface="Segoe UI" panose="020B0502040204020203" pitchFamily="34" charset="0"/>
                        </a:rPr>
                        <a:t>THE BONE PROTECTION PORTFOLIO</a:t>
                      </a:r>
                    </a:p>
                  </a:txBody>
                  <a:tcP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6452490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419511776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3D85EDF-5E15-4CDE-B7B4-E817472F4D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3147820"/>
              </p:ext>
            </p:extLst>
          </p:nvPr>
        </p:nvGraphicFramePr>
        <p:xfrm>
          <a:off x="0" y="3205226"/>
          <a:ext cx="1958788" cy="1828800"/>
        </p:xfrm>
        <a:graphic>
          <a:graphicData uri="http://schemas.openxmlformats.org/drawingml/2006/table">
            <a:tbl>
              <a:tblPr/>
              <a:tblGrid>
                <a:gridCol w="1958788">
                  <a:extLst>
                    <a:ext uri="{9D8B030D-6E8A-4147-A177-3AD203B41FA5}">
                      <a16:colId xmlns:a16="http://schemas.microsoft.com/office/drawing/2014/main" val="372337059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/>
                      <a:r>
                        <a:rPr lang="en-US" b="1" i="0" dirty="0">
                          <a:effectLst/>
                          <a:latin typeface="Segoe UI" panose="020B0502040204020203" pitchFamily="34" charset="0"/>
                        </a:rPr>
                        <a:t>BALANCE ASSETS</a:t>
                      </a:r>
                    </a:p>
                    <a:p>
                      <a:pPr fontAlgn="t"/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Strong muscles. Better stability. Lower fall risk.</a:t>
                      </a:r>
                    </a:p>
                  </a:txBody>
                  <a:tcPr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093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509208371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68DC6F86-0F6C-4B2B-845C-B891635AE8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092832"/>
              </p:ext>
            </p:extLst>
          </p:nvPr>
        </p:nvGraphicFramePr>
        <p:xfrm>
          <a:off x="2138083" y="3205226"/>
          <a:ext cx="1958788" cy="3474720"/>
        </p:xfrm>
        <a:graphic>
          <a:graphicData uri="http://schemas.openxmlformats.org/drawingml/2006/table">
            <a:tbl>
              <a:tblPr/>
              <a:tblGrid>
                <a:gridCol w="1958788">
                  <a:extLst>
                    <a:ext uri="{9D8B030D-6E8A-4147-A177-3AD203B41FA5}">
                      <a16:colId xmlns:a16="http://schemas.microsoft.com/office/drawing/2014/main" val="372337059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/>
                      <a:r>
                        <a:rPr lang="en-US" b="1" i="0" dirty="0">
                          <a:effectLst/>
                          <a:latin typeface="Segoe UI" panose="020B0502040204020203" pitchFamily="34" charset="0"/>
                        </a:rPr>
                        <a:t>HOME SECURITY</a:t>
                      </a:r>
                    </a:p>
                    <a:p>
                      <a:pPr fontAlgn="t"/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Eliminate hidden hazards before they cause fractures.</a:t>
                      </a:r>
                    </a:p>
                    <a:p>
                      <a:pPr marL="285750" indent="-285750" fontAlgn="t">
                        <a:buFont typeface="Arial" panose="020B0604020202020204" pitchFamily="34" charset="0"/>
                        <a:buChar char="•"/>
                      </a:pPr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Loose rugs</a:t>
                      </a:r>
                    </a:p>
                    <a:p>
                      <a:pPr marL="285750" indent="-285750" fontAlgn="t">
                        <a:buFont typeface="Arial" panose="020B0604020202020204" pitchFamily="34" charset="0"/>
                        <a:buChar char="•"/>
                      </a:pPr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Poor lighting</a:t>
                      </a:r>
                    </a:p>
                    <a:p>
                      <a:pPr marL="285750" indent="-285750" fontAlgn="t">
                        <a:buFont typeface="Arial" panose="020B0604020202020204" pitchFamily="34" charset="0"/>
                        <a:buChar char="•"/>
                      </a:pPr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Cluttered pathways</a:t>
                      </a:r>
                    </a:p>
                    <a:p>
                      <a:pPr marL="285750" indent="-285750" fontAlgn="t">
                        <a:buFont typeface="Arial" panose="020B0604020202020204" pitchFamily="34" charset="0"/>
                        <a:buChar char="•"/>
                      </a:pPr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Slippery floors</a:t>
                      </a:r>
                    </a:p>
                  </a:txBody>
                  <a:tcPr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093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509208371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0A1B1110-FD48-480B-A347-56D7782C32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449626"/>
              </p:ext>
            </p:extLst>
          </p:nvPr>
        </p:nvGraphicFramePr>
        <p:xfrm>
          <a:off x="4276166" y="3169712"/>
          <a:ext cx="1958788" cy="4023360"/>
        </p:xfrm>
        <a:graphic>
          <a:graphicData uri="http://schemas.openxmlformats.org/drawingml/2006/table">
            <a:tbl>
              <a:tblPr/>
              <a:tblGrid>
                <a:gridCol w="1958788">
                  <a:extLst>
                    <a:ext uri="{9D8B030D-6E8A-4147-A177-3AD203B41FA5}">
                      <a16:colId xmlns:a16="http://schemas.microsoft.com/office/drawing/2014/main" val="372337059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/>
                      <a:r>
                        <a:rPr lang="en-US" b="1" i="0" dirty="0">
                          <a:effectLst/>
                          <a:latin typeface="Segoe UI" panose="020B0502040204020203" pitchFamily="34" charset="0"/>
                        </a:rPr>
                        <a:t>MOBILITY SUPPORT</a:t>
                      </a:r>
                    </a:p>
                    <a:p>
                      <a:pPr fontAlgn="t"/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Proper footwear for safer movement.</a:t>
                      </a:r>
                    </a:p>
                    <a:p>
                      <a:pPr fontAlgn="t"/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Well-fitting shoes</a:t>
                      </a:r>
                    </a:p>
                    <a:p>
                      <a:pPr fontAlgn="t"/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✓ Good grip</a:t>
                      </a:r>
                    </a:p>
                    <a:p>
                      <a:pPr fontAlgn="t"/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✓ Stable support</a:t>
                      </a:r>
                    </a:p>
                    <a:p>
                      <a:pPr fontAlgn="t"/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Avoid loose slippers whenever possible.</a:t>
                      </a:r>
                    </a:p>
                    <a:p>
                      <a:pPr fontAlgn="t"/>
                      <a:endParaRPr lang="en-US" b="0" i="0" dirty="0">
                        <a:effectLst/>
                        <a:latin typeface="Segoe UI" panose="020B0502040204020203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093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509208371"/>
                  </a:ext>
                </a:extLst>
              </a:tr>
            </a:tbl>
          </a:graphicData>
        </a:graphic>
      </p:graphicFrame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F2DD7A7D-354E-4525-87D8-3CD498D263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0903712"/>
              </p:ext>
            </p:extLst>
          </p:nvPr>
        </p:nvGraphicFramePr>
        <p:xfrm>
          <a:off x="6414249" y="3169712"/>
          <a:ext cx="1958788" cy="2103120"/>
        </p:xfrm>
        <a:graphic>
          <a:graphicData uri="http://schemas.openxmlformats.org/drawingml/2006/table">
            <a:tbl>
              <a:tblPr/>
              <a:tblGrid>
                <a:gridCol w="1958788">
                  <a:extLst>
                    <a:ext uri="{9D8B030D-6E8A-4147-A177-3AD203B41FA5}">
                      <a16:colId xmlns:a16="http://schemas.microsoft.com/office/drawing/2014/main" val="372337059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/>
                      <a:r>
                        <a:rPr lang="en-US" b="1" i="0">
                          <a:effectLst/>
                          <a:latin typeface="Segoe UI" panose="020B0502040204020203" pitchFamily="34" charset="0"/>
                        </a:rPr>
                        <a:t>SENSORY CHECKS</a:t>
                      </a:r>
                    </a:p>
                    <a:p>
                      <a:pPr fontAlgn="t"/>
                      <a:r>
                        <a:rPr lang="en-US" b="0" i="0">
                          <a:effectLst/>
                          <a:latin typeface="Segoe UI" panose="020B0502040204020203" pitchFamily="34" charset="0"/>
                        </a:rPr>
                        <a:t>Vision and hearing help keep every step informed.</a:t>
                      </a:r>
                    </a:p>
                  </a:txBody>
                  <a:tcPr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093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509208371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ADC355CB-5160-41F0-A463-AE4BD4197E9D}"/>
              </a:ext>
            </a:extLst>
          </p:cNvPr>
          <p:cNvSpPr txBox="1"/>
          <p:nvPr/>
        </p:nvSpPr>
        <p:spPr>
          <a:xfrm>
            <a:off x="3030071" y="183841"/>
            <a:ext cx="613185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400" b="1" dirty="0">
                <a:highlight>
                  <a:srgbClr val="FF00FF"/>
                </a:highlight>
                <a:latin typeface="Cambria" panose="02040503050406030204" pitchFamily="18" charset="0"/>
                <a:ea typeface="Cambria" panose="02040503050406030204" pitchFamily="18" charset="0"/>
              </a:rPr>
              <a:t>PROTECT</a:t>
            </a:r>
          </a:p>
          <a:p>
            <a:pPr algn="ctr"/>
            <a:r>
              <a:rPr lang="en-US" sz="2800" b="1" dirty="0">
                <a:highlight>
                  <a:srgbClr val="FF00FF"/>
                </a:highlight>
                <a:latin typeface="Cambria" panose="02040503050406030204" pitchFamily="18" charset="0"/>
                <a:ea typeface="Cambria" panose="02040503050406030204" pitchFamily="18" charset="0"/>
              </a:rPr>
              <a:t>PROTECT WHAT YOU HAVE BUILT.</a:t>
            </a:r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483892A8-9366-4441-ACCD-A7C01275A4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9258716"/>
              </p:ext>
            </p:extLst>
          </p:nvPr>
        </p:nvGraphicFramePr>
        <p:xfrm>
          <a:off x="8552332" y="1523791"/>
          <a:ext cx="3455892" cy="4917349"/>
        </p:xfrm>
        <a:graphic>
          <a:graphicData uri="http://schemas.openxmlformats.org/drawingml/2006/table">
            <a:tbl>
              <a:tblPr/>
              <a:tblGrid>
                <a:gridCol w="3455892">
                  <a:extLst>
                    <a:ext uri="{9D8B030D-6E8A-4147-A177-3AD203B41FA5}">
                      <a16:colId xmlns:a16="http://schemas.microsoft.com/office/drawing/2014/main" val="2026085728"/>
                    </a:ext>
                  </a:extLst>
                </a:gridCol>
              </a:tblGrid>
              <a:tr h="4531675">
                <a:tc>
                  <a:txBody>
                    <a:bodyPr/>
                    <a:lstStyle/>
                    <a:p>
                      <a:pPr fontAlgn="t"/>
                      <a:r>
                        <a:rPr lang="en-US" b="1" i="0">
                          <a:effectLst/>
                          <a:latin typeface="Segoe UI" panose="020B0502040204020203" pitchFamily="34" charset="0"/>
                        </a:rPr>
                        <a:t>BONE RISK AUDIT™</a:t>
                      </a:r>
                    </a:p>
                    <a:p>
                      <a:pPr fontAlgn="t"/>
                      <a:r>
                        <a:rPr lang="en-US" b="0" i="0">
                          <a:effectLst/>
                          <a:latin typeface="Segoe UI" panose="020B0502040204020203" pitchFamily="34" charset="0"/>
                        </a:rPr>
                        <a:t>How vulnerable is your bone investment?</a:t>
                      </a:r>
                    </a:p>
                    <a:p>
                      <a:pPr fontAlgn="t"/>
                      <a:r>
                        <a:rPr lang="en-US" b="0" i="0">
                          <a:effectLst/>
                          <a:latin typeface="Segoe UI" panose="020B0502040204020203" pitchFamily="34" charset="0"/>
                        </a:rPr>
                        <a:t>□ Previous fall in last 12 months</a:t>
                      </a:r>
                      <a:br>
                        <a:rPr lang="en-US" b="0" i="0">
                          <a:effectLst/>
                          <a:latin typeface="Segoe UI" panose="020B0502040204020203" pitchFamily="34" charset="0"/>
                        </a:rPr>
                      </a:br>
                      <a:r>
                        <a:rPr lang="en-US" b="0" i="0">
                          <a:effectLst/>
                          <a:latin typeface="Segoe UI" panose="020B0502040204020203" pitchFamily="34" charset="0"/>
                        </a:rPr>
                        <a:t>□ Unsteady walking</a:t>
                      </a:r>
                      <a:br>
                        <a:rPr lang="en-US" b="0" i="0">
                          <a:effectLst/>
                          <a:latin typeface="Segoe UI" panose="020B0502040204020203" pitchFamily="34" charset="0"/>
                        </a:rPr>
                      </a:br>
                      <a:r>
                        <a:rPr lang="en-US" b="0" i="0">
                          <a:effectLst/>
                          <a:latin typeface="Segoe UI" panose="020B0502040204020203" pitchFamily="34" charset="0"/>
                        </a:rPr>
                        <a:t>□ Dizziness</a:t>
                      </a:r>
                      <a:br>
                        <a:rPr lang="en-US" b="0" i="0">
                          <a:effectLst/>
                          <a:latin typeface="Segoe UI" panose="020B0502040204020203" pitchFamily="34" charset="0"/>
                        </a:rPr>
                      </a:br>
                      <a:r>
                        <a:rPr lang="en-US" b="0" i="0">
                          <a:effectLst/>
                          <a:latin typeface="Segoe UI" panose="020B0502040204020203" pitchFamily="34" charset="0"/>
                        </a:rPr>
                        <a:t>□ Fear of falling</a:t>
                      </a:r>
                      <a:br>
                        <a:rPr lang="en-US" b="0" i="0">
                          <a:effectLst/>
                          <a:latin typeface="Segoe UI" panose="020B0502040204020203" pitchFamily="34" charset="0"/>
                        </a:rPr>
                      </a:br>
                      <a:r>
                        <a:rPr lang="en-US" b="0" i="0">
                          <a:effectLst/>
                          <a:latin typeface="Segoe UI" panose="020B0502040204020203" pitchFamily="34" charset="0"/>
                        </a:rPr>
                        <a:t>□ Vision concerns</a:t>
                      </a:r>
                      <a:br>
                        <a:rPr lang="en-US" b="0" i="0">
                          <a:effectLst/>
                          <a:latin typeface="Segoe UI" panose="020B0502040204020203" pitchFamily="34" charset="0"/>
                        </a:rPr>
                      </a:br>
                      <a:r>
                        <a:rPr lang="en-US" b="0" i="0">
                          <a:effectLst/>
                          <a:latin typeface="Segoe UI" panose="020B0502040204020203" pitchFamily="34" charset="0"/>
                        </a:rPr>
                        <a:t>□ Multiple medications</a:t>
                      </a:r>
                    </a:p>
                    <a:p>
                      <a:pPr fontAlgn="t"/>
                      <a:r>
                        <a:rPr lang="en-US" b="1" i="0">
                          <a:effectLst/>
                          <a:latin typeface="Segoe UI" panose="020B0502040204020203" pitchFamily="34" charset="0"/>
                        </a:rPr>
                        <a:t>The more boxes checked, the greater the risk of an unexpected withdrawal from your bone bank.</a:t>
                      </a:r>
                      <a:endParaRPr lang="en-US" b="0" i="0">
                        <a:effectLst/>
                        <a:latin typeface="Segoe UI" panose="020B0502040204020203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8712423"/>
                  </a:ext>
                </a:extLst>
              </a:tr>
              <a:tr h="385674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5593992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86936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179D0F8-1CEF-41D4-B0F1-A8AA8C218EDA}"/>
              </a:ext>
            </a:extLst>
          </p:cNvPr>
          <p:cNvSpPr/>
          <p:nvPr/>
        </p:nvSpPr>
        <p:spPr>
          <a:xfrm>
            <a:off x="1" y="120506"/>
            <a:ext cx="1855694" cy="448056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>
                <a:solidFill>
                  <a:schemeClr val="tx1"/>
                </a:solidFill>
              </a:rPr>
              <a:t>PAGE 10</a:t>
            </a:r>
            <a:endParaRPr lang="en-IN" sz="2000" b="1" dirty="0">
              <a:solidFill>
                <a:schemeClr val="tx1"/>
              </a:solidFill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BF06ABD-E82B-4CD7-B761-7D7640EFF2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8366827"/>
              </p:ext>
            </p:extLst>
          </p:nvPr>
        </p:nvGraphicFramePr>
        <p:xfrm>
          <a:off x="0" y="1290367"/>
          <a:ext cx="2245659" cy="3749040"/>
        </p:xfrm>
        <a:graphic>
          <a:graphicData uri="http://schemas.openxmlformats.org/drawingml/2006/table">
            <a:tbl>
              <a:tblPr/>
              <a:tblGrid>
                <a:gridCol w="2245659">
                  <a:extLst>
                    <a:ext uri="{9D8B030D-6E8A-4147-A177-3AD203B41FA5}">
                      <a16:colId xmlns:a16="http://schemas.microsoft.com/office/drawing/2014/main" val="405893436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/>
                      <a:r>
                        <a:rPr lang="en-US" b="1" i="0" dirty="0">
                          <a:effectLst/>
                          <a:latin typeface="Segoe UI" panose="020B0502040204020203" pitchFamily="34" charset="0"/>
                        </a:rPr>
                        <a:t>SIT TO STAND</a:t>
                      </a:r>
                    </a:p>
                    <a:p>
                      <a:pPr fontAlgn="t"/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WHY?</a:t>
                      </a:r>
                    </a:p>
                    <a:p>
                      <a:pPr fontAlgn="t"/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Improves thigh and hip strength.</a:t>
                      </a:r>
                    </a:p>
                    <a:p>
                      <a:pPr fontAlgn="t"/>
                      <a:endParaRPr lang="en-US" b="0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/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HOW?</a:t>
                      </a:r>
                    </a:p>
                    <a:p>
                      <a:pPr fontAlgn="t">
                        <a:buFont typeface="+mj-lt"/>
                        <a:buAutoNum type="arabicPeriod"/>
                      </a:pPr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Sit in a chair.</a:t>
                      </a:r>
                    </a:p>
                    <a:p>
                      <a:pPr fontAlgn="t">
                        <a:buFont typeface="+mj-lt"/>
                        <a:buAutoNum type="arabicPeriod"/>
                      </a:pPr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Stand up without using hands if possible.</a:t>
                      </a:r>
                    </a:p>
                    <a:p>
                      <a:pPr fontAlgn="t">
                        <a:buFont typeface="+mj-lt"/>
                        <a:buAutoNum type="arabicPeriod"/>
                      </a:pPr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Slowly sit down.</a:t>
                      </a:r>
                    </a:p>
                    <a:p>
                      <a:pPr fontAlgn="t"/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Repeat 10 </a:t>
                      </a:r>
                      <a:r>
                        <a:rPr lang="en-US" b="0" i="0" dirty="0" err="1">
                          <a:effectLst/>
                          <a:latin typeface="Segoe UI" panose="020B0502040204020203" pitchFamily="34" charset="0"/>
                        </a:rPr>
                        <a:t>times.Z</a:t>
                      </a:r>
                      <a:endParaRPr lang="en-US" b="0" i="0" dirty="0">
                        <a:effectLst/>
                        <a:latin typeface="Segoe UI" panose="020B0502040204020203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5595476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453207114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C093302-02F3-4E47-A4FA-375A9EC535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4680643"/>
              </p:ext>
            </p:extLst>
          </p:nvPr>
        </p:nvGraphicFramePr>
        <p:xfrm>
          <a:off x="2503393" y="1290367"/>
          <a:ext cx="2093259" cy="3749040"/>
        </p:xfrm>
        <a:graphic>
          <a:graphicData uri="http://schemas.openxmlformats.org/drawingml/2006/table">
            <a:tbl>
              <a:tblPr/>
              <a:tblGrid>
                <a:gridCol w="2093259">
                  <a:extLst>
                    <a:ext uri="{9D8B030D-6E8A-4147-A177-3AD203B41FA5}">
                      <a16:colId xmlns:a16="http://schemas.microsoft.com/office/drawing/2014/main" val="95971226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/>
                      <a:r>
                        <a:rPr lang="en-US" b="1" i="0" dirty="0">
                          <a:effectLst/>
                          <a:latin typeface="Segoe UI" panose="020B0502040204020203" pitchFamily="34" charset="0"/>
                        </a:rPr>
                        <a:t>HEEL RAISES</a:t>
                      </a:r>
                    </a:p>
                    <a:p>
                      <a:pPr fontAlgn="t"/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WHY?</a:t>
                      </a:r>
                    </a:p>
                    <a:p>
                      <a:pPr fontAlgn="t"/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Improves calf strength and balance.</a:t>
                      </a:r>
                    </a:p>
                    <a:p>
                      <a:pPr fontAlgn="t"/>
                      <a:endParaRPr lang="en-US" b="0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/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HOW?</a:t>
                      </a:r>
                    </a:p>
                    <a:p>
                      <a:pPr fontAlgn="t"/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Rise on toes.</a:t>
                      </a:r>
                    </a:p>
                    <a:p>
                      <a:pPr fontAlgn="t"/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Hold 3 seconds.</a:t>
                      </a:r>
                    </a:p>
                    <a:p>
                      <a:pPr fontAlgn="t"/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Lower slowly.</a:t>
                      </a:r>
                    </a:p>
                    <a:p>
                      <a:pPr fontAlgn="t"/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Repeat 10-15 times.</a:t>
                      </a:r>
                    </a:p>
                  </a:txBody>
                  <a:tcPr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9254055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849804420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94969D84-FBCB-4822-B73F-A8108A2A69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9580440"/>
              </p:ext>
            </p:extLst>
          </p:nvPr>
        </p:nvGraphicFramePr>
        <p:xfrm>
          <a:off x="4854386" y="1290367"/>
          <a:ext cx="2093259" cy="3474720"/>
        </p:xfrm>
        <a:graphic>
          <a:graphicData uri="http://schemas.openxmlformats.org/drawingml/2006/table">
            <a:tbl>
              <a:tblPr/>
              <a:tblGrid>
                <a:gridCol w="2093259">
                  <a:extLst>
                    <a:ext uri="{9D8B030D-6E8A-4147-A177-3AD203B41FA5}">
                      <a16:colId xmlns:a16="http://schemas.microsoft.com/office/drawing/2014/main" val="95971226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/>
                      <a:r>
                        <a:rPr lang="en-US" b="1" i="0" dirty="0">
                          <a:effectLst/>
                          <a:latin typeface="Segoe UI" panose="020B0502040204020203" pitchFamily="34" charset="0"/>
                        </a:rPr>
                        <a:t>STEP UPS</a:t>
                      </a:r>
                    </a:p>
                    <a:p>
                      <a:pPr fontAlgn="t"/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WHY?</a:t>
                      </a:r>
                    </a:p>
                    <a:p>
                      <a:pPr fontAlgn="t"/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Supports stair-climbing ability.</a:t>
                      </a:r>
                    </a:p>
                    <a:p>
                      <a:pPr fontAlgn="t"/>
                      <a:endParaRPr lang="en-US" b="0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/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HOW?</a:t>
                      </a:r>
                    </a:p>
                    <a:p>
                      <a:pPr fontAlgn="t"/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Step onto a low step.</a:t>
                      </a:r>
                    </a:p>
                    <a:p>
                      <a:pPr fontAlgn="t"/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Step down slowly.</a:t>
                      </a:r>
                    </a:p>
                    <a:p>
                      <a:pPr fontAlgn="t"/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Repeat 10 times each side.</a:t>
                      </a:r>
                    </a:p>
                  </a:txBody>
                  <a:tcPr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9254055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849804420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43C527B0-6505-4B5B-9C47-BE834E72F2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2501457"/>
              </p:ext>
            </p:extLst>
          </p:nvPr>
        </p:nvGraphicFramePr>
        <p:xfrm>
          <a:off x="7205379" y="1290367"/>
          <a:ext cx="2093259" cy="4297680"/>
        </p:xfrm>
        <a:graphic>
          <a:graphicData uri="http://schemas.openxmlformats.org/drawingml/2006/table">
            <a:tbl>
              <a:tblPr/>
              <a:tblGrid>
                <a:gridCol w="2093259">
                  <a:extLst>
                    <a:ext uri="{9D8B030D-6E8A-4147-A177-3AD203B41FA5}">
                      <a16:colId xmlns:a16="http://schemas.microsoft.com/office/drawing/2014/main" val="95971226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/>
                      <a:r>
                        <a:rPr lang="en-US" b="1" i="0" dirty="0">
                          <a:effectLst/>
                          <a:latin typeface="Segoe UI" panose="020B0502040204020203" pitchFamily="34" charset="0"/>
                        </a:rPr>
                        <a:t>RESISTANCE BAND ROW</a:t>
                      </a:r>
                    </a:p>
                    <a:p>
                      <a:pPr fontAlgn="t"/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WHY?</a:t>
                      </a:r>
                    </a:p>
                    <a:p>
                      <a:pPr fontAlgn="t"/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Strengthens upper-back muscles.</a:t>
                      </a:r>
                    </a:p>
                    <a:p>
                      <a:pPr fontAlgn="t"/>
                      <a:endParaRPr lang="en-US" b="0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/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HOW?</a:t>
                      </a:r>
                    </a:p>
                    <a:p>
                      <a:pPr fontAlgn="t"/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Pull band toward chest.</a:t>
                      </a:r>
                    </a:p>
                    <a:p>
                      <a:pPr fontAlgn="t"/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Squeeze shoulder blades together.</a:t>
                      </a:r>
                    </a:p>
                    <a:p>
                      <a:pPr fontAlgn="t"/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Repeat 10-15 times.</a:t>
                      </a:r>
                    </a:p>
                  </a:txBody>
                  <a:tcPr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9254055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849804420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6DB64DFA-652E-4B1C-945F-5409553BEC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6830771"/>
              </p:ext>
            </p:extLst>
          </p:nvPr>
        </p:nvGraphicFramePr>
        <p:xfrm>
          <a:off x="9814106" y="1276369"/>
          <a:ext cx="2093259" cy="4023360"/>
        </p:xfrm>
        <a:graphic>
          <a:graphicData uri="http://schemas.openxmlformats.org/drawingml/2006/table">
            <a:tbl>
              <a:tblPr/>
              <a:tblGrid>
                <a:gridCol w="2093259">
                  <a:extLst>
                    <a:ext uri="{9D8B030D-6E8A-4147-A177-3AD203B41FA5}">
                      <a16:colId xmlns:a16="http://schemas.microsoft.com/office/drawing/2014/main" val="95971226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/>
                      <a:r>
                        <a:rPr lang="en-US" b="1" i="0" dirty="0">
                          <a:effectLst/>
                          <a:latin typeface="Segoe UI" panose="020B0502040204020203" pitchFamily="34" charset="0"/>
                        </a:rPr>
                        <a:t>BALANCE EXERCISE</a:t>
                      </a:r>
                    </a:p>
                    <a:p>
                      <a:pPr fontAlgn="t"/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WHY?</a:t>
                      </a:r>
                    </a:p>
                    <a:p>
                      <a:pPr fontAlgn="t"/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Reduces fall risk.</a:t>
                      </a:r>
                    </a:p>
                    <a:p>
                      <a:pPr fontAlgn="t"/>
                      <a:endParaRPr lang="en-US" b="0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/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HOW?</a:t>
                      </a:r>
                    </a:p>
                    <a:p>
                      <a:pPr fontAlgn="t"/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Stand near support.</a:t>
                      </a:r>
                    </a:p>
                    <a:p>
                      <a:pPr fontAlgn="t"/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Lift one foot slightly.</a:t>
                      </a:r>
                    </a:p>
                    <a:p>
                      <a:pPr fontAlgn="t"/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Hold for 10-20 seconds.</a:t>
                      </a:r>
                    </a:p>
                    <a:p>
                      <a:pPr fontAlgn="t"/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Repeat both sides.</a:t>
                      </a:r>
                    </a:p>
                  </a:txBody>
                  <a:tcPr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9254055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849804420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3C94E697-A85E-4A94-8922-325FAEEB94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4147416"/>
              </p:ext>
            </p:extLst>
          </p:nvPr>
        </p:nvGraphicFramePr>
        <p:xfrm>
          <a:off x="165847" y="5731654"/>
          <a:ext cx="11741518" cy="1280160"/>
        </p:xfrm>
        <a:graphic>
          <a:graphicData uri="http://schemas.openxmlformats.org/drawingml/2006/table">
            <a:tbl>
              <a:tblPr/>
              <a:tblGrid>
                <a:gridCol w="11741518">
                  <a:extLst>
                    <a:ext uri="{9D8B030D-6E8A-4147-A177-3AD203B41FA5}">
                      <a16:colId xmlns:a16="http://schemas.microsoft.com/office/drawing/2014/main" val="10551641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/>
                      <a:r>
                        <a:rPr lang="en-US" b="1" i="0" dirty="0">
                          <a:effectLst/>
                          <a:latin typeface="Segoe UI" panose="020B0502040204020203" pitchFamily="34" charset="0"/>
                        </a:rPr>
                        <a:t>BEFORE STARTING</a:t>
                      </a:r>
                    </a:p>
                    <a:p>
                      <a:pPr fontAlgn="t"/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Choose activities appropriate for your health, ability and medical condition.</a:t>
                      </a:r>
                    </a:p>
                    <a:p>
                      <a:pPr fontAlgn="t"/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Discuss with your doctor, before initiating it.</a:t>
                      </a:r>
                    </a:p>
                  </a:txBody>
                  <a:tcPr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769997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561084698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4FB00AE8-A402-4CEC-9DC9-134467ACF8B9}"/>
              </a:ext>
            </a:extLst>
          </p:cNvPr>
          <p:cNvSpPr txBox="1"/>
          <p:nvPr/>
        </p:nvSpPr>
        <p:spPr>
          <a:xfrm>
            <a:off x="1159808" y="155492"/>
            <a:ext cx="9872384" cy="830997"/>
          </a:xfrm>
          <a:prstGeom prst="rect">
            <a:avLst/>
          </a:prstGeom>
          <a:solidFill>
            <a:srgbClr val="92D050"/>
          </a:solidFill>
        </p:spPr>
        <p:txBody>
          <a:bodyPr wrap="square">
            <a:spAutoFit/>
          </a:bodyPr>
          <a:lstStyle/>
          <a:p>
            <a:pPr algn="ctr" fontAlgn="t"/>
            <a:r>
              <a:rPr lang="en-US" sz="2400" b="1" i="0" dirty="0">
                <a:effectLst/>
                <a:latin typeface="Segoe UI" panose="020B0502040204020203" pitchFamily="34" charset="0"/>
              </a:rPr>
              <a:t>EXERCISE LIBRARY.</a:t>
            </a:r>
          </a:p>
          <a:p>
            <a:pPr algn="ctr" fontAlgn="t"/>
            <a:r>
              <a:rPr lang="en-US" sz="2400" b="1" i="0" dirty="0">
                <a:effectLst/>
                <a:latin typeface="Segoe UI" panose="020B0502040204020203" pitchFamily="34" charset="0"/>
              </a:rPr>
              <a:t>LEARN THE PURPOSE.LEARN THE MOVEMENT.</a:t>
            </a:r>
          </a:p>
        </p:txBody>
      </p:sp>
    </p:spTree>
    <p:extLst>
      <p:ext uri="{BB962C8B-B14F-4D97-AF65-F5344CB8AC3E}">
        <p14:creationId xmlns:p14="http://schemas.microsoft.com/office/powerpoint/2010/main" val="42091017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179D0F8-1CEF-41D4-B0F1-A8AA8C218EDA}"/>
              </a:ext>
            </a:extLst>
          </p:cNvPr>
          <p:cNvSpPr/>
          <p:nvPr/>
        </p:nvSpPr>
        <p:spPr>
          <a:xfrm>
            <a:off x="1" y="120506"/>
            <a:ext cx="1855694" cy="448056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>
                <a:solidFill>
                  <a:schemeClr val="tx1"/>
                </a:solidFill>
              </a:rPr>
              <a:t>PAGE 12</a:t>
            </a:r>
            <a:endParaRPr lang="en-IN" sz="2000" b="1" dirty="0">
              <a:solidFill>
                <a:schemeClr val="tx1"/>
              </a:solidFill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9609912-3C0B-45CA-8AE7-DC1B865875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8511392"/>
              </p:ext>
            </p:extLst>
          </p:nvPr>
        </p:nvGraphicFramePr>
        <p:xfrm>
          <a:off x="1981200" y="1371082"/>
          <a:ext cx="8763000" cy="1005840"/>
        </p:xfrm>
        <a:graphic>
          <a:graphicData uri="http://schemas.openxmlformats.org/drawingml/2006/table">
            <a:tbl>
              <a:tblPr/>
              <a:tblGrid>
                <a:gridCol w="8763000">
                  <a:extLst>
                    <a:ext uri="{9D8B030D-6E8A-4147-A177-3AD203B41FA5}">
                      <a16:colId xmlns:a16="http://schemas.microsoft.com/office/drawing/2014/main" val="78287512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/>
                      <a:r>
                        <a:rPr lang="en-US" b="1" i="0">
                          <a:effectLst/>
                          <a:latin typeface="Segoe UI" panose="020B0502040204020203" pitchFamily="34" charset="0"/>
                        </a:rPr>
                        <a:t>WOULD YOUR HOME PASS A BONE INVESTMENT AUDIT?</a:t>
                      </a:r>
                    </a:p>
                    <a:p>
                      <a:pPr fontAlgn="t"/>
                      <a:r>
                        <a:rPr lang="en-US" b="0" i="0">
                          <a:effectLst/>
                          <a:latin typeface="Segoe UI" panose="020B0502040204020203" pitchFamily="34" charset="0"/>
                        </a:rPr>
                        <a:t>Many fractures occur not because bones fail, but because surroundings do.</a:t>
                      </a:r>
                    </a:p>
                  </a:txBody>
                  <a:tcPr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0368703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71109534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2403BA8-EB10-42F9-B3BB-BCEEE59872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1421112"/>
              </p:ext>
            </p:extLst>
          </p:nvPr>
        </p:nvGraphicFramePr>
        <p:xfrm>
          <a:off x="2978523" y="2376922"/>
          <a:ext cx="1729422" cy="2447739"/>
        </p:xfrm>
        <a:graphic>
          <a:graphicData uri="http://schemas.openxmlformats.org/drawingml/2006/table">
            <a:tbl>
              <a:tblPr/>
              <a:tblGrid>
                <a:gridCol w="1729422">
                  <a:extLst>
                    <a:ext uri="{9D8B030D-6E8A-4147-A177-3AD203B41FA5}">
                      <a16:colId xmlns:a16="http://schemas.microsoft.com/office/drawing/2014/main" val="1927477397"/>
                    </a:ext>
                  </a:extLst>
                </a:gridCol>
              </a:tblGrid>
              <a:tr h="2142939">
                <a:tc>
                  <a:txBody>
                    <a:bodyPr/>
                    <a:lstStyle/>
                    <a:p>
                      <a:pPr fontAlgn="t"/>
                      <a:r>
                        <a:rPr lang="en-US" sz="1400" b="1" i="0" dirty="0">
                          <a:effectLst/>
                          <a:latin typeface="Segoe UI" panose="020B0502040204020203" pitchFamily="34" charset="0"/>
                        </a:rPr>
                        <a:t>Bedroom</a:t>
                      </a:r>
                    </a:p>
                    <a:p>
                      <a:pPr fontAlgn="t"/>
                      <a:r>
                        <a:rPr lang="en-US" sz="1400" b="1" i="0" dirty="0">
                          <a:effectLst/>
                          <a:latin typeface="Segoe UI" panose="020B0502040204020203" pitchFamily="34" charset="0"/>
                        </a:rPr>
                        <a:t>INVEST IN SAFER MOVEMENT</a:t>
                      </a:r>
                      <a:endParaRPr lang="en-US" sz="1400" b="0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/>
                      <a:r>
                        <a:rPr lang="en-US" sz="1400" b="0" i="0" dirty="0">
                          <a:effectLst/>
                          <a:latin typeface="Segoe UI" panose="020B0502040204020203" pitchFamily="34" charset="0"/>
                        </a:rPr>
                        <a:t>□ Easy access to light switches</a:t>
                      </a:r>
                      <a:br>
                        <a:rPr lang="en-US" sz="1400" b="0" i="0" dirty="0">
                          <a:effectLst/>
                          <a:latin typeface="Segoe UI" panose="020B0502040204020203" pitchFamily="34" charset="0"/>
                        </a:rPr>
                      </a:br>
                      <a:r>
                        <a:rPr lang="en-US" sz="1400" b="0" i="0" dirty="0">
                          <a:effectLst/>
                          <a:latin typeface="Segoe UI" panose="020B0502040204020203" pitchFamily="34" charset="0"/>
                        </a:rPr>
                        <a:t>□ Clear route to bathroom</a:t>
                      </a:r>
                      <a:br>
                        <a:rPr lang="en-US" sz="1400" b="0" i="0" dirty="0">
                          <a:effectLst/>
                          <a:latin typeface="Segoe UI" panose="020B0502040204020203" pitchFamily="34" charset="0"/>
                        </a:rPr>
                      </a:br>
                      <a:r>
                        <a:rPr lang="en-US" sz="1400" b="0" i="0" dirty="0">
                          <a:effectLst/>
                          <a:latin typeface="Segoe UI" panose="020B0502040204020203" pitchFamily="34" charset="0"/>
                        </a:rPr>
                        <a:t>□ No loose mats</a:t>
                      </a:r>
                    </a:p>
                  </a:txBody>
                  <a:tcPr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8703291"/>
                  </a:ext>
                </a:extLst>
              </a:tr>
              <a:tr h="252111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987240705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F1E7D590-8272-4C6D-9C2D-390682DC8F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9709014"/>
              </p:ext>
            </p:extLst>
          </p:nvPr>
        </p:nvGraphicFramePr>
        <p:xfrm>
          <a:off x="5116605" y="2376922"/>
          <a:ext cx="1729422" cy="2613374"/>
        </p:xfrm>
        <a:graphic>
          <a:graphicData uri="http://schemas.openxmlformats.org/drawingml/2006/table">
            <a:tbl>
              <a:tblPr/>
              <a:tblGrid>
                <a:gridCol w="1729422">
                  <a:extLst>
                    <a:ext uri="{9D8B030D-6E8A-4147-A177-3AD203B41FA5}">
                      <a16:colId xmlns:a16="http://schemas.microsoft.com/office/drawing/2014/main" val="1927477397"/>
                    </a:ext>
                  </a:extLst>
                </a:gridCol>
              </a:tblGrid>
              <a:tr h="2308574">
                <a:tc>
                  <a:txBody>
                    <a:bodyPr/>
                    <a:lstStyle/>
                    <a:p>
                      <a:pPr fontAlgn="t"/>
                      <a:r>
                        <a:rPr lang="en-US" sz="1400" b="1" i="0" dirty="0">
                          <a:effectLst/>
                          <a:latin typeface="Segoe UI" panose="020B0502040204020203" pitchFamily="34" charset="0"/>
                        </a:rPr>
                        <a:t>Bathroom</a:t>
                      </a:r>
                    </a:p>
                    <a:p>
                      <a:pPr fontAlgn="t"/>
                      <a:r>
                        <a:rPr lang="en-US" sz="1400" b="1" i="0" dirty="0">
                          <a:effectLst/>
                          <a:latin typeface="Segoe UI" panose="020B0502040204020203" pitchFamily="34" charset="0"/>
                        </a:rPr>
                        <a:t>THE HIGHEST-RISK ROOM DESERVES THE HIGHEST ATTENTION</a:t>
                      </a:r>
                      <a:endParaRPr lang="en-US" sz="1400" b="0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/>
                      <a:r>
                        <a:rPr lang="en-US" sz="1400" b="0" i="0" dirty="0">
                          <a:effectLst/>
                          <a:latin typeface="Segoe UI" panose="020B0502040204020203" pitchFamily="34" charset="0"/>
                        </a:rPr>
                        <a:t>□ Grab bars</a:t>
                      </a:r>
                      <a:br>
                        <a:rPr lang="en-US" sz="1400" b="0" i="0" dirty="0">
                          <a:effectLst/>
                          <a:latin typeface="Segoe UI" panose="020B0502040204020203" pitchFamily="34" charset="0"/>
                        </a:rPr>
                      </a:br>
                      <a:r>
                        <a:rPr lang="en-US" sz="1400" b="0" i="0" dirty="0">
                          <a:effectLst/>
                          <a:latin typeface="Segoe UI" panose="020B0502040204020203" pitchFamily="34" charset="0"/>
                        </a:rPr>
                        <a:t>□ Non-slip surfaces</a:t>
                      </a:r>
                      <a:br>
                        <a:rPr lang="en-US" sz="1400" b="0" i="0" dirty="0">
                          <a:effectLst/>
                          <a:latin typeface="Segoe UI" panose="020B0502040204020203" pitchFamily="34" charset="0"/>
                        </a:rPr>
                      </a:br>
                      <a:r>
                        <a:rPr lang="en-US" sz="1400" b="0" i="0" dirty="0">
                          <a:effectLst/>
                          <a:latin typeface="Segoe UI" panose="020B0502040204020203" pitchFamily="34" charset="0"/>
                        </a:rPr>
                        <a:t>□ Adequate lighting</a:t>
                      </a:r>
                    </a:p>
                  </a:txBody>
                  <a:tcPr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8703291"/>
                  </a:ext>
                </a:extLst>
              </a:tr>
              <a:tr h="249575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987240705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8D965C6E-9CDD-4A67-B01C-4E9FF8376F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741258"/>
              </p:ext>
            </p:extLst>
          </p:nvPr>
        </p:nvGraphicFramePr>
        <p:xfrm>
          <a:off x="7324163" y="2376922"/>
          <a:ext cx="1719894" cy="1716568"/>
        </p:xfrm>
        <a:graphic>
          <a:graphicData uri="http://schemas.openxmlformats.org/drawingml/2006/table">
            <a:tbl>
              <a:tblPr/>
              <a:tblGrid>
                <a:gridCol w="1719894">
                  <a:extLst>
                    <a:ext uri="{9D8B030D-6E8A-4147-A177-3AD203B41FA5}">
                      <a16:colId xmlns:a16="http://schemas.microsoft.com/office/drawing/2014/main" val="1927477397"/>
                    </a:ext>
                  </a:extLst>
                </a:gridCol>
              </a:tblGrid>
              <a:tr h="1411768">
                <a:tc>
                  <a:txBody>
                    <a:bodyPr/>
                    <a:lstStyle/>
                    <a:p>
                      <a:pPr fontAlgn="t"/>
                      <a:r>
                        <a:rPr lang="en-US" sz="1400" b="1" i="0" dirty="0">
                          <a:effectLst/>
                          <a:latin typeface="Segoe UI" panose="020B0502040204020203" pitchFamily="34" charset="0"/>
                        </a:rPr>
                        <a:t>Stairs</a:t>
                      </a:r>
                    </a:p>
                    <a:p>
                      <a:pPr fontAlgn="t"/>
                      <a:r>
                        <a:rPr lang="en-US" sz="1400" b="1" i="0" dirty="0">
                          <a:effectLst/>
                          <a:latin typeface="Segoe UI" panose="020B0502040204020203" pitchFamily="34" charset="0"/>
                        </a:rPr>
                        <a:t>PROTECT EVERY STEP</a:t>
                      </a:r>
                      <a:endParaRPr lang="en-US" sz="1400" b="0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/>
                      <a:r>
                        <a:rPr lang="en-US" sz="1400" b="0" i="0" dirty="0">
                          <a:effectLst/>
                          <a:latin typeface="Segoe UI" panose="020B0502040204020203" pitchFamily="34" charset="0"/>
                        </a:rPr>
                        <a:t>□ Handrails present</a:t>
                      </a:r>
                      <a:br>
                        <a:rPr lang="en-US" sz="1400" b="0" i="0" dirty="0">
                          <a:effectLst/>
                          <a:latin typeface="Segoe UI" panose="020B0502040204020203" pitchFamily="34" charset="0"/>
                        </a:rPr>
                      </a:br>
                      <a:r>
                        <a:rPr lang="en-US" sz="1400" b="0" i="0" dirty="0">
                          <a:effectLst/>
                          <a:latin typeface="Segoe UI" panose="020B0502040204020203" pitchFamily="34" charset="0"/>
                        </a:rPr>
                        <a:t>□ Well-lit steps</a:t>
                      </a:r>
                      <a:br>
                        <a:rPr lang="en-US" sz="1400" b="0" i="0" dirty="0">
                          <a:effectLst/>
                          <a:latin typeface="Segoe UI" panose="020B0502040204020203" pitchFamily="34" charset="0"/>
                        </a:rPr>
                      </a:br>
                      <a:r>
                        <a:rPr lang="en-US" sz="1400" b="0" i="0" dirty="0">
                          <a:effectLst/>
                          <a:latin typeface="Segoe UI" panose="020B0502040204020203" pitchFamily="34" charset="0"/>
                        </a:rPr>
                        <a:t>□ No obstacles</a:t>
                      </a:r>
                    </a:p>
                  </a:txBody>
                  <a:tcPr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8703291"/>
                  </a:ext>
                </a:extLst>
              </a:tr>
              <a:tr h="252110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987240705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2221BF3D-28CA-4858-BDFE-7A7E65947B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1666542"/>
              </p:ext>
            </p:extLst>
          </p:nvPr>
        </p:nvGraphicFramePr>
        <p:xfrm>
          <a:off x="9453281" y="2376922"/>
          <a:ext cx="2291603" cy="1733687"/>
        </p:xfrm>
        <a:graphic>
          <a:graphicData uri="http://schemas.openxmlformats.org/drawingml/2006/table">
            <a:tbl>
              <a:tblPr/>
              <a:tblGrid>
                <a:gridCol w="2291603">
                  <a:extLst>
                    <a:ext uri="{9D8B030D-6E8A-4147-A177-3AD203B41FA5}">
                      <a16:colId xmlns:a16="http://schemas.microsoft.com/office/drawing/2014/main" val="1927477397"/>
                    </a:ext>
                  </a:extLst>
                </a:gridCol>
              </a:tblGrid>
              <a:tr h="1428887">
                <a:tc>
                  <a:txBody>
                    <a:bodyPr/>
                    <a:lstStyle/>
                    <a:p>
                      <a:pPr fontAlgn="t"/>
                      <a:r>
                        <a:rPr lang="en-US" sz="1400" b="1" i="0" dirty="0">
                          <a:effectLst/>
                          <a:latin typeface="Segoe UI" panose="020B0502040204020203" pitchFamily="34" charset="0"/>
                        </a:rPr>
                        <a:t>Kitchen</a:t>
                      </a:r>
                    </a:p>
                    <a:p>
                      <a:pPr fontAlgn="t"/>
                      <a:r>
                        <a:rPr lang="en-US" sz="1400" b="1" i="0" dirty="0">
                          <a:effectLst/>
                          <a:latin typeface="Segoe UI" panose="020B0502040204020203" pitchFamily="34" charset="0"/>
                        </a:rPr>
                        <a:t>KEEP DAILY TASKS LOW RISK</a:t>
                      </a:r>
                      <a:endParaRPr lang="en-US" sz="1400" b="0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/>
                      <a:r>
                        <a:rPr lang="en-US" sz="1400" b="0" i="0" dirty="0">
                          <a:effectLst/>
                          <a:latin typeface="Segoe UI" panose="020B0502040204020203" pitchFamily="34" charset="0"/>
                        </a:rPr>
                        <a:t>□ Frequently used items within reach</a:t>
                      </a:r>
                      <a:br>
                        <a:rPr lang="en-US" sz="1400" b="0" i="0" dirty="0">
                          <a:effectLst/>
                          <a:latin typeface="Segoe UI" panose="020B0502040204020203" pitchFamily="34" charset="0"/>
                        </a:rPr>
                      </a:br>
                      <a:r>
                        <a:rPr lang="en-US" sz="1400" b="0" i="0" dirty="0">
                          <a:effectLst/>
                          <a:latin typeface="Segoe UI" panose="020B0502040204020203" pitchFamily="34" charset="0"/>
                        </a:rPr>
                        <a:t>□ Dry flooring</a:t>
                      </a:r>
                    </a:p>
                  </a:txBody>
                  <a:tcPr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8703291"/>
                  </a:ext>
                </a:extLst>
              </a:tr>
              <a:tr h="252110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987240705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714AC78D-5787-4FE6-B33A-DB8F75B1E3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4742686"/>
              </p:ext>
            </p:extLst>
          </p:nvPr>
        </p:nvGraphicFramePr>
        <p:xfrm>
          <a:off x="532280" y="2376922"/>
          <a:ext cx="2291602" cy="1938487"/>
        </p:xfrm>
        <a:graphic>
          <a:graphicData uri="http://schemas.openxmlformats.org/drawingml/2006/table">
            <a:tbl>
              <a:tblPr/>
              <a:tblGrid>
                <a:gridCol w="2291602">
                  <a:extLst>
                    <a:ext uri="{9D8B030D-6E8A-4147-A177-3AD203B41FA5}">
                      <a16:colId xmlns:a16="http://schemas.microsoft.com/office/drawing/2014/main" val="1927477397"/>
                    </a:ext>
                  </a:extLst>
                </a:gridCol>
              </a:tblGrid>
              <a:tr h="1633687">
                <a:tc>
                  <a:txBody>
                    <a:bodyPr/>
                    <a:lstStyle/>
                    <a:p>
                      <a:pPr fontAlgn="t"/>
                      <a:r>
                        <a:rPr lang="en-US" sz="1400" b="1" i="0" dirty="0">
                          <a:effectLst/>
                          <a:latin typeface="Segoe UI" panose="020B0502040204020203" pitchFamily="34" charset="0"/>
                        </a:rPr>
                        <a:t>Living Room</a:t>
                      </a:r>
                    </a:p>
                    <a:p>
                      <a:pPr fontAlgn="t"/>
                      <a:r>
                        <a:rPr lang="en-US" sz="1400" b="1" i="0" dirty="0">
                          <a:effectLst/>
                          <a:latin typeface="Segoe UI" panose="020B0502040204020203" pitchFamily="34" charset="0"/>
                        </a:rPr>
                        <a:t>REMOVE UNNECESSARY RISK</a:t>
                      </a:r>
                      <a:endParaRPr lang="en-US" sz="1400" b="0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/>
                      <a:r>
                        <a:rPr lang="en-US" sz="1400" b="0" i="0" dirty="0">
                          <a:effectLst/>
                          <a:latin typeface="Segoe UI" panose="020B0502040204020203" pitchFamily="34" charset="0"/>
                        </a:rPr>
                        <a:t>□ Clear pathways</a:t>
                      </a:r>
                      <a:br>
                        <a:rPr lang="en-US" sz="1400" b="0" i="0" dirty="0">
                          <a:effectLst/>
                          <a:latin typeface="Segoe UI" panose="020B0502040204020203" pitchFamily="34" charset="0"/>
                        </a:rPr>
                      </a:br>
                      <a:r>
                        <a:rPr lang="en-US" sz="1400" b="0" i="0" dirty="0">
                          <a:effectLst/>
                          <a:latin typeface="Segoe UI" panose="020B0502040204020203" pitchFamily="34" charset="0"/>
                        </a:rPr>
                        <a:t>□ No loose wires</a:t>
                      </a:r>
                      <a:br>
                        <a:rPr lang="en-US" sz="1400" b="0" i="0" dirty="0">
                          <a:effectLst/>
                          <a:latin typeface="Segoe UI" panose="020B0502040204020203" pitchFamily="34" charset="0"/>
                        </a:rPr>
                      </a:br>
                      <a:r>
                        <a:rPr lang="en-US" sz="1400" b="0" i="0" dirty="0">
                          <a:effectLst/>
                          <a:latin typeface="Segoe UI" panose="020B0502040204020203" pitchFamily="34" charset="0"/>
                        </a:rPr>
                        <a:t>□ Adequate lighting</a:t>
                      </a:r>
                    </a:p>
                  </a:txBody>
                  <a:tcPr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8703291"/>
                  </a:ext>
                </a:extLst>
              </a:tr>
              <a:tr h="252110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987240705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49FF7E77-6FE1-41F1-83BD-324C2BCCAC3D}"/>
              </a:ext>
            </a:extLst>
          </p:cNvPr>
          <p:cNvSpPr txBox="1"/>
          <p:nvPr/>
        </p:nvSpPr>
        <p:spPr>
          <a:xfrm>
            <a:off x="3030071" y="183841"/>
            <a:ext cx="613185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400" b="1" dirty="0">
                <a:highlight>
                  <a:srgbClr val="FF00FF"/>
                </a:highlight>
                <a:latin typeface="Cambria" panose="02040503050406030204" pitchFamily="18" charset="0"/>
                <a:ea typeface="Cambria" panose="02040503050406030204" pitchFamily="18" charset="0"/>
              </a:rPr>
              <a:t>PROTECT</a:t>
            </a:r>
          </a:p>
          <a:p>
            <a:pPr algn="ctr"/>
            <a:r>
              <a:rPr lang="en-US" sz="2800" b="1" dirty="0">
                <a:highlight>
                  <a:srgbClr val="FF00FF"/>
                </a:highlight>
                <a:latin typeface="Cambria" panose="02040503050406030204" pitchFamily="18" charset="0"/>
                <a:ea typeface="Cambria" panose="02040503050406030204" pitchFamily="18" charset="0"/>
              </a:rPr>
              <a:t>PROTECT WHAT YOU HAVE BUILT.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076CBFD-D4A7-4CC1-B75B-134A1B7C1A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7341589"/>
              </p:ext>
            </p:extLst>
          </p:nvPr>
        </p:nvGraphicFramePr>
        <p:xfrm>
          <a:off x="532280" y="5124358"/>
          <a:ext cx="10515600" cy="128016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170471047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/>
                      <a:r>
                        <a:rPr lang="en-US" b="1" i="0">
                          <a:effectLst/>
                          <a:latin typeface="Segoe UI" panose="020B0502040204020203" pitchFamily="34" charset="0"/>
                        </a:rPr>
                        <a:t>GOOD INVESTORS REVIEW THEIR PORTFOLIO REGULARLY.</a:t>
                      </a:r>
                    </a:p>
                    <a:p>
                      <a:pPr fontAlgn="t"/>
                      <a:r>
                        <a:rPr lang="en-US" b="0" i="0">
                          <a:effectLst/>
                          <a:latin typeface="Segoe UI" panose="020B0502040204020203" pitchFamily="34" charset="0"/>
                        </a:rPr>
                        <a:t>Your home deserves the same attention.</a:t>
                      </a:r>
                    </a:p>
                    <a:p>
                      <a:pPr fontAlgn="t"/>
                      <a:r>
                        <a:rPr lang="en-US" b="1" i="0">
                          <a:effectLst/>
                          <a:latin typeface="Segoe UI" panose="020B0502040204020203" pitchFamily="34" charset="0"/>
                        </a:rPr>
                        <a:t>Protect your environment. Protect your mobility. Protect your bone investment.</a:t>
                      </a:r>
                      <a:endParaRPr lang="en-US" b="0" i="0">
                        <a:effectLst/>
                        <a:latin typeface="Segoe UI" panose="020B0502040204020203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3964134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7808340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660268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179D0F8-1CEF-41D4-B0F1-A8AA8C218EDA}"/>
              </a:ext>
            </a:extLst>
          </p:cNvPr>
          <p:cNvSpPr/>
          <p:nvPr/>
        </p:nvSpPr>
        <p:spPr>
          <a:xfrm>
            <a:off x="1" y="120506"/>
            <a:ext cx="1855694" cy="448056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>
                <a:solidFill>
                  <a:schemeClr val="tx1"/>
                </a:solidFill>
              </a:rPr>
              <a:t>PAGE 13</a:t>
            </a:r>
            <a:endParaRPr lang="en-IN" sz="2000" b="1" dirty="0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8E71BF2-6404-4F36-AAB0-D94D5C94E984}"/>
              </a:ext>
            </a:extLst>
          </p:cNvPr>
          <p:cNvSpPr txBox="1"/>
          <p:nvPr/>
        </p:nvSpPr>
        <p:spPr>
          <a:xfrm>
            <a:off x="161363" y="0"/>
            <a:ext cx="11889523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b="1" dirty="0">
                <a:effectLst/>
                <a:highlight>
                  <a:srgbClr val="FF00FF"/>
                </a:highlight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STRENGTHEN</a:t>
            </a:r>
            <a:endParaRPr lang="en-IN" sz="2800" b="1" dirty="0">
              <a:effectLst/>
              <a:highlight>
                <a:srgbClr val="FF00FF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en-IN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en-US" b="1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EVERY INVESTOR NEEDS MORE THAN JUST ONE NUMBER.</a:t>
            </a:r>
          </a:p>
          <a:p>
            <a:pPr algn="ctr"/>
            <a:r>
              <a:rPr lang="en-US" b="1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 single account balance doesn't define financial health.</a:t>
            </a:r>
          </a:p>
          <a:p>
            <a:pPr algn="ctr"/>
            <a:r>
              <a:rPr lang="en-US" b="1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Similarly, a DXA score alone doesn't define bone health.</a:t>
            </a:r>
          </a:p>
          <a:p>
            <a:pPr algn="ctr"/>
            <a:r>
              <a:rPr lang="en-US" b="1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 understand your true fracture risk, it's important to review your complete Bone Health Portfolio.</a:t>
            </a:r>
            <a:endParaRPr lang="en-IN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64898D4-A6C3-4D5A-BE5A-811B7292EF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2969164"/>
              </p:ext>
            </p:extLst>
          </p:nvPr>
        </p:nvGraphicFramePr>
        <p:xfrm>
          <a:off x="141113" y="2400657"/>
          <a:ext cx="2930378" cy="4449323"/>
        </p:xfrm>
        <a:graphic>
          <a:graphicData uri="http://schemas.openxmlformats.org/drawingml/2006/table">
            <a:tbl>
              <a:tblPr/>
              <a:tblGrid>
                <a:gridCol w="2930378">
                  <a:extLst>
                    <a:ext uri="{9D8B030D-6E8A-4147-A177-3AD203B41FA5}">
                      <a16:colId xmlns:a16="http://schemas.microsoft.com/office/drawing/2014/main" val="1414589233"/>
                    </a:ext>
                  </a:extLst>
                </a:gridCol>
              </a:tblGrid>
              <a:tr h="4083563">
                <a:tc>
                  <a:txBody>
                    <a:bodyPr/>
                    <a:lstStyle/>
                    <a:p>
                      <a:pPr fontAlgn="t"/>
                      <a:r>
                        <a:rPr lang="en-US" b="1" i="0" dirty="0">
                          <a:effectLst/>
                          <a:latin typeface="Segoe UI" panose="020B0502040204020203" pitchFamily="34" charset="0"/>
                        </a:rPr>
                        <a:t>DXA/BMD</a:t>
                      </a:r>
                    </a:p>
                    <a:p>
                      <a:pPr fontAlgn="t"/>
                      <a:r>
                        <a:rPr lang="en-US" b="1" i="0" dirty="0">
                          <a:effectLst/>
                          <a:latin typeface="Segoe UI" panose="020B0502040204020203" pitchFamily="34" charset="0"/>
                        </a:rPr>
                        <a:t>YOUR BONE HEALTH STATEMENT™</a:t>
                      </a:r>
                    </a:p>
                    <a:p>
                      <a:pPr fontAlgn="t"/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DXA measures your current bone reserves.</a:t>
                      </a:r>
                    </a:p>
                    <a:p>
                      <a:pPr fontAlgn="t"/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But smart decisions require looking beyond a single number.</a:t>
                      </a:r>
                    </a:p>
                  </a:txBody>
                  <a:tcPr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7679347"/>
                  </a:ext>
                </a:extLst>
              </a:tr>
              <a:tr h="26777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94730087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C41FEEA-54C8-4CC0-BD35-CB7CB417B5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7910768"/>
              </p:ext>
            </p:extLst>
          </p:nvPr>
        </p:nvGraphicFramePr>
        <p:xfrm>
          <a:off x="3165622" y="2373245"/>
          <a:ext cx="2930378" cy="4449323"/>
        </p:xfrm>
        <a:graphic>
          <a:graphicData uri="http://schemas.openxmlformats.org/drawingml/2006/table">
            <a:tbl>
              <a:tblPr/>
              <a:tblGrid>
                <a:gridCol w="2930378">
                  <a:extLst>
                    <a:ext uri="{9D8B030D-6E8A-4147-A177-3AD203B41FA5}">
                      <a16:colId xmlns:a16="http://schemas.microsoft.com/office/drawing/2014/main" val="1414589233"/>
                    </a:ext>
                  </a:extLst>
                </a:gridCol>
              </a:tblGrid>
              <a:tr h="4083563">
                <a:tc>
                  <a:txBody>
                    <a:bodyPr/>
                    <a:lstStyle/>
                    <a:p>
                      <a:pPr fontAlgn="t"/>
                      <a:r>
                        <a:rPr lang="en-US" b="1" i="0">
                          <a:effectLst/>
                          <a:latin typeface="Segoe UI" panose="020B0502040204020203" pitchFamily="34" charset="0"/>
                        </a:rPr>
                        <a:t>PREVIOUS FRACTURE</a:t>
                      </a:r>
                    </a:p>
                    <a:p>
                      <a:pPr fontAlgn="t"/>
                      <a:r>
                        <a:rPr lang="en-US" b="1" i="0">
                          <a:effectLst/>
                          <a:latin typeface="Segoe UI" panose="020B0502040204020203" pitchFamily="34" charset="0"/>
                        </a:rPr>
                        <a:t>YOUR MOST IMPORTANT WARNING SIGNAL</a:t>
                      </a:r>
                    </a:p>
                    <a:p>
                      <a:pPr fontAlgn="t"/>
                      <a:r>
                        <a:rPr lang="en-US" b="0" i="0">
                          <a:effectLst/>
                          <a:latin typeface="Segoe UI" panose="020B0502040204020203" pitchFamily="34" charset="0"/>
                        </a:rPr>
                        <a:t>A previous fracture may indicate that your bone investment is under greater pressure than expected.</a:t>
                      </a:r>
                    </a:p>
                    <a:p>
                      <a:pPr fontAlgn="t"/>
                      <a:r>
                        <a:rPr lang="en-US" b="0" i="0">
                          <a:effectLst/>
                          <a:latin typeface="Segoe UI" panose="020B0502040204020203" pitchFamily="34" charset="0"/>
                        </a:rPr>
                        <a:t>Past fractures can be one of the strongest predictors of future fractures.</a:t>
                      </a:r>
                    </a:p>
                  </a:txBody>
                  <a:tcPr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7679347"/>
                  </a:ext>
                </a:extLst>
              </a:tr>
              <a:tr h="26777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947300870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6F5EEB8-5B22-494A-B2BC-8A2B519F79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8812476"/>
              </p:ext>
            </p:extLst>
          </p:nvPr>
        </p:nvGraphicFramePr>
        <p:xfrm>
          <a:off x="6250563" y="2373245"/>
          <a:ext cx="2930378" cy="4449323"/>
        </p:xfrm>
        <a:graphic>
          <a:graphicData uri="http://schemas.openxmlformats.org/drawingml/2006/table">
            <a:tbl>
              <a:tblPr/>
              <a:tblGrid>
                <a:gridCol w="2930378">
                  <a:extLst>
                    <a:ext uri="{9D8B030D-6E8A-4147-A177-3AD203B41FA5}">
                      <a16:colId xmlns:a16="http://schemas.microsoft.com/office/drawing/2014/main" val="1414589233"/>
                    </a:ext>
                  </a:extLst>
                </a:gridCol>
              </a:tblGrid>
              <a:tr h="4083563">
                <a:tc>
                  <a:txBody>
                    <a:bodyPr/>
                    <a:lstStyle/>
                    <a:p>
                      <a:pPr fontAlgn="t"/>
                      <a:r>
                        <a:rPr lang="en-IN" b="1" i="0">
                          <a:effectLst/>
                          <a:latin typeface="Segoe UI" panose="020B0502040204020203" pitchFamily="34" charset="0"/>
                        </a:rPr>
                        <a:t>BONE HEALTH ASSESSMENT</a:t>
                      </a:r>
                    </a:p>
                    <a:p>
                      <a:pPr fontAlgn="t"/>
                      <a:r>
                        <a:rPr lang="en-IN" b="1" i="0">
                          <a:effectLst/>
                          <a:latin typeface="Segoe UI" panose="020B0502040204020203" pitchFamily="34" charset="0"/>
                        </a:rPr>
                        <a:t>LOOK AT THE ENTIRE PORTFOLIO™</a:t>
                      </a:r>
                    </a:p>
                    <a:p>
                      <a:pPr fontAlgn="t"/>
                      <a:r>
                        <a:rPr lang="en-IN" b="0" i="0">
                          <a:effectLst/>
                          <a:latin typeface="Segoe UI" panose="020B0502040204020203" pitchFamily="34" charset="0"/>
                        </a:rPr>
                        <a:t>✓ DXA/BMD</a:t>
                      </a:r>
                    </a:p>
                    <a:p>
                      <a:pPr fontAlgn="t"/>
                      <a:r>
                        <a:rPr lang="en-IN" b="0" i="0">
                          <a:effectLst/>
                          <a:latin typeface="Segoe UI" panose="020B0502040204020203" pitchFamily="34" charset="0"/>
                        </a:rPr>
                        <a:t>✓ FRAX® Risk</a:t>
                      </a:r>
                    </a:p>
                    <a:p>
                      <a:pPr fontAlgn="t"/>
                      <a:r>
                        <a:rPr lang="en-IN" b="0" i="0">
                          <a:effectLst/>
                          <a:latin typeface="Segoe UI" panose="020B0502040204020203" pitchFamily="34" charset="0"/>
                        </a:rPr>
                        <a:t>✓ Previous Fractures</a:t>
                      </a:r>
                    </a:p>
                    <a:p>
                      <a:pPr fontAlgn="t"/>
                      <a:r>
                        <a:rPr lang="en-IN" b="0" i="0">
                          <a:effectLst/>
                          <a:latin typeface="Segoe UI" panose="020B0502040204020203" pitchFamily="34" charset="0"/>
                        </a:rPr>
                        <a:t>✓ Age &amp; Gender</a:t>
                      </a:r>
                    </a:p>
                    <a:p>
                      <a:pPr fontAlgn="t"/>
                      <a:r>
                        <a:rPr lang="en-IN" b="0" i="0">
                          <a:effectLst/>
                          <a:latin typeface="Segoe UI" panose="020B0502040204020203" pitchFamily="34" charset="0"/>
                        </a:rPr>
                        <a:t>✓ Family History</a:t>
                      </a:r>
                    </a:p>
                    <a:p>
                      <a:pPr fontAlgn="t"/>
                      <a:r>
                        <a:rPr lang="en-IN" b="0" i="0">
                          <a:effectLst/>
                          <a:latin typeface="Segoe UI" panose="020B0502040204020203" pitchFamily="34" charset="0"/>
                        </a:rPr>
                        <a:t>✓ Medical Conditions</a:t>
                      </a:r>
                    </a:p>
                    <a:p>
                      <a:pPr fontAlgn="t"/>
                      <a:r>
                        <a:rPr lang="en-IN" b="0" i="0">
                          <a:effectLst/>
                          <a:latin typeface="Segoe UI" panose="020B0502040204020203" pitchFamily="34" charset="0"/>
                        </a:rPr>
                        <a:t>✓ Medications</a:t>
                      </a:r>
                    </a:p>
                    <a:p>
                      <a:pPr fontAlgn="t"/>
                      <a:r>
                        <a:rPr lang="en-IN" b="0" i="0">
                          <a:effectLst/>
                          <a:latin typeface="Segoe UI" panose="020B0502040204020203" pitchFamily="34" charset="0"/>
                        </a:rPr>
                        <a:t>Every factor contributes to your overall fracture-risk profile.</a:t>
                      </a:r>
                    </a:p>
                  </a:txBody>
                  <a:tcPr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7679347"/>
                  </a:ext>
                </a:extLst>
              </a:tr>
              <a:tr h="26777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947300870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37FB07F0-0559-47B6-824A-0B77509BF1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7923156"/>
              </p:ext>
            </p:extLst>
          </p:nvPr>
        </p:nvGraphicFramePr>
        <p:xfrm>
          <a:off x="9261622" y="2310373"/>
          <a:ext cx="2930378" cy="4449323"/>
        </p:xfrm>
        <a:graphic>
          <a:graphicData uri="http://schemas.openxmlformats.org/drawingml/2006/table">
            <a:tbl>
              <a:tblPr/>
              <a:tblGrid>
                <a:gridCol w="2930378">
                  <a:extLst>
                    <a:ext uri="{9D8B030D-6E8A-4147-A177-3AD203B41FA5}">
                      <a16:colId xmlns:a16="http://schemas.microsoft.com/office/drawing/2014/main" val="1414589233"/>
                    </a:ext>
                  </a:extLst>
                </a:gridCol>
              </a:tblGrid>
              <a:tr h="4083563">
                <a:tc>
                  <a:txBody>
                    <a:bodyPr/>
                    <a:lstStyle/>
                    <a:p>
                      <a:pPr fontAlgn="t"/>
                      <a:r>
                        <a:rPr lang="en-US" b="1" i="0">
                          <a:effectLst/>
                          <a:latin typeface="Segoe UI" panose="020B0502040204020203" pitchFamily="34" charset="0"/>
                        </a:rPr>
                        <a:t>WHEN LIFESTYLE ISN'T ENOUGH</a:t>
                      </a:r>
                    </a:p>
                    <a:p>
                      <a:pPr fontAlgn="t"/>
                      <a:r>
                        <a:rPr lang="en-US" b="1" i="0">
                          <a:effectLst/>
                          <a:latin typeface="Segoe UI" panose="020B0502040204020203" pitchFamily="34" charset="0"/>
                        </a:rPr>
                        <a:t>SOMETIMES ADDITIONAL INVESTMENT IS NEEDED.</a:t>
                      </a:r>
                    </a:p>
                    <a:p>
                      <a:pPr fontAlgn="t"/>
                      <a:r>
                        <a:rPr lang="en-US" b="0" i="0">
                          <a:effectLst/>
                          <a:latin typeface="Segoe UI" panose="020B0502040204020203" pitchFamily="34" charset="0"/>
                        </a:rPr>
                        <a:t>Nutrition and exercise build the foundation.</a:t>
                      </a:r>
                    </a:p>
                    <a:p>
                      <a:pPr fontAlgn="t"/>
                      <a:r>
                        <a:rPr lang="en-US" b="0" i="0">
                          <a:effectLst/>
                          <a:latin typeface="Segoe UI" panose="020B0502040204020203" pitchFamily="34" charset="0"/>
                        </a:rPr>
                        <a:t>But for some individuals at increased fracture risk, additional measures may be needed to better protect and strengthen bones.</a:t>
                      </a:r>
                    </a:p>
                  </a:txBody>
                  <a:tcPr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7679347"/>
                  </a:ext>
                </a:extLst>
              </a:tr>
              <a:tr h="26777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9473008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20656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FCAFB9E-1574-451C-887B-6A40BD21C2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1659304"/>
              </p:ext>
            </p:extLst>
          </p:nvPr>
        </p:nvGraphicFramePr>
        <p:xfrm>
          <a:off x="676835" y="40341"/>
          <a:ext cx="10515600" cy="128016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415003851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/>
                      <a:r>
                        <a:rPr lang="en-US" b="1" i="0">
                          <a:effectLst/>
                          <a:latin typeface="Segoe UI" panose="020B0502040204020203" pitchFamily="34" charset="0"/>
                        </a:rPr>
                        <a:t>STRENGTHEN YOUR PLAN</a:t>
                      </a:r>
                    </a:p>
                    <a:p>
                      <a:pPr fontAlgn="t"/>
                      <a:r>
                        <a:rPr lang="en-US" b="1" i="0">
                          <a:effectLst/>
                          <a:latin typeface="Segoe UI" panose="020B0502040204020203" pitchFamily="34" charset="0"/>
                        </a:rPr>
                        <a:t>BEFORE MAKING A FINANCIAL DECISION, YOU REVIEW THE FACTS.</a:t>
                      </a:r>
                    </a:p>
                    <a:p>
                      <a:pPr fontAlgn="t"/>
                      <a:r>
                        <a:rPr lang="en-US" b="0" i="0">
                          <a:effectLst/>
                          <a:latin typeface="Segoe UI" panose="020B0502040204020203" pitchFamily="34" charset="0"/>
                        </a:rPr>
                        <a:t>YOUR BONE HEALTH DESERVES THE SAME APPROACH.</a:t>
                      </a:r>
                    </a:p>
                  </a:txBody>
                  <a:tcPr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0324197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478165598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6312714-5E8B-481D-901E-25D28F4E64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6582292"/>
              </p:ext>
            </p:extLst>
          </p:nvPr>
        </p:nvGraphicFramePr>
        <p:xfrm>
          <a:off x="676835" y="1586202"/>
          <a:ext cx="10515600" cy="265176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198228796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/>
                      <a:r>
                        <a:rPr lang="en-US" b="1" i="0">
                          <a:effectLst/>
                          <a:latin typeface="Segoe UI" panose="020B0502040204020203" pitchFamily="34" charset="0"/>
                        </a:rPr>
                        <a:t>YOUR BONE HEALTH REVIEW™</a:t>
                      </a:r>
                    </a:p>
                    <a:p>
                      <a:pPr fontAlgn="t"/>
                      <a:r>
                        <a:rPr lang="en-US" b="0" i="0">
                          <a:effectLst/>
                          <a:latin typeface="Segoe UI" panose="020B0502040204020203" pitchFamily="34" charset="0"/>
                        </a:rPr>
                        <a:t>Discuss with your doctor:</a:t>
                      </a:r>
                    </a:p>
                    <a:p>
                      <a:pPr fontAlgn="t"/>
                      <a:r>
                        <a:rPr lang="en-US" b="0" i="0">
                          <a:effectLst/>
                          <a:latin typeface="Segoe UI" panose="020B0502040204020203" pitchFamily="34" charset="0"/>
                        </a:rPr>
                        <a:t>✓ What is my fracture risk?</a:t>
                      </a:r>
                    </a:p>
                    <a:p>
                      <a:pPr fontAlgn="t"/>
                      <a:r>
                        <a:rPr lang="en-US" b="0" i="0">
                          <a:effectLst/>
                          <a:latin typeface="Segoe UI" panose="020B0502040204020203" pitchFamily="34" charset="0"/>
                        </a:rPr>
                        <a:t>✓ What does my DXA score mean?</a:t>
                      </a:r>
                    </a:p>
                    <a:p>
                      <a:pPr fontAlgn="t"/>
                      <a:r>
                        <a:rPr lang="en-US" b="0" i="0">
                          <a:effectLst/>
                          <a:latin typeface="Segoe UI" panose="020B0502040204020203" pitchFamily="34" charset="0"/>
                        </a:rPr>
                        <a:t>✓ Am I losing bone faster than expected?</a:t>
                      </a:r>
                    </a:p>
                    <a:p>
                      <a:pPr fontAlgn="t"/>
                      <a:r>
                        <a:rPr lang="en-US" b="0" i="0">
                          <a:effectLst/>
                          <a:latin typeface="Segoe UI" panose="020B0502040204020203" pitchFamily="34" charset="0"/>
                        </a:rPr>
                        <a:t>✓ Have previous fractures changed my future risk?</a:t>
                      </a:r>
                    </a:p>
                    <a:p>
                      <a:pPr fontAlgn="t"/>
                      <a:r>
                        <a:rPr lang="en-US" b="0" i="0">
                          <a:effectLst/>
                          <a:latin typeface="Segoe UI" panose="020B0502040204020203" pitchFamily="34" charset="0"/>
                        </a:rPr>
                        <a:t>✓ What can I do to strengthen my bones?</a:t>
                      </a:r>
                    </a:p>
                    <a:p>
                      <a:pPr fontAlgn="t"/>
                      <a:r>
                        <a:rPr lang="en-US" b="0" i="0">
                          <a:effectLst/>
                          <a:latin typeface="Segoe UI" panose="020B0502040204020203" pitchFamily="34" charset="0"/>
                        </a:rPr>
                        <a:t>✓ Are additional treatment options appropriate for me?</a:t>
                      </a:r>
                    </a:p>
                  </a:txBody>
                  <a:tcPr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3193316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576275962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EACF45C-AFD1-4C4F-A4A4-2061E6EA7C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4185698"/>
              </p:ext>
            </p:extLst>
          </p:nvPr>
        </p:nvGraphicFramePr>
        <p:xfrm>
          <a:off x="676835" y="4503663"/>
          <a:ext cx="10515600" cy="182880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249727784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/>
                      <a:r>
                        <a:rPr lang="en-US" b="1" i="0" dirty="0">
                          <a:effectLst/>
                          <a:latin typeface="Segoe UI" panose="020B0502040204020203" pitchFamily="34" charset="0"/>
                        </a:rPr>
                        <a:t>THE BEST INVESTMENTS ARE REVIEWED REGULARLY.</a:t>
                      </a:r>
                    </a:p>
                    <a:p>
                      <a:pPr fontAlgn="t"/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Bone health is no different.</a:t>
                      </a:r>
                    </a:p>
                    <a:p>
                      <a:pPr fontAlgn="t"/>
                      <a:r>
                        <a:rPr lang="en-US" b="1" i="0" dirty="0">
                          <a:effectLst/>
                          <a:latin typeface="Segoe UI" panose="020B0502040204020203" pitchFamily="34" charset="0"/>
                        </a:rPr>
                        <a:t>Know Your Risk.</a:t>
                      </a:r>
                      <a:br>
                        <a:rPr lang="en-US" b="1" i="0" dirty="0">
                          <a:effectLst/>
                          <a:latin typeface="Segoe UI" panose="020B0502040204020203" pitchFamily="34" charset="0"/>
                        </a:rPr>
                      </a:br>
                      <a:r>
                        <a:rPr lang="en-US" b="1" i="0" dirty="0">
                          <a:effectLst/>
                          <a:latin typeface="Segoe UI" panose="020B0502040204020203" pitchFamily="34" charset="0"/>
                        </a:rPr>
                        <a:t>Protect Your Investment.</a:t>
                      </a:r>
                      <a:br>
                        <a:rPr lang="en-US" b="1" i="0" dirty="0">
                          <a:effectLst/>
                          <a:latin typeface="Segoe UI" panose="020B0502040204020203" pitchFamily="34" charset="0"/>
                        </a:rPr>
                      </a:br>
                      <a:r>
                        <a:rPr lang="en-US" b="1" i="0" dirty="0">
                          <a:effectLst/>
                          <a:latin typeface="Segoe UI" panose="020B0502040204020203" pitchFamily="34" charset="0"/>
                        </a:rPr>
                        <a:t>Strengthen Your Future.</a:t>
                      </a:r>
                      <a:endParaRPr lang="en-US" b="0" i="0" dirty="0">
                        <a:effectLst/>
                        <a:latin typeface="Segoe UI" panose="020B0502040204020203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6654711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6511364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222119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226B901-B590-47B0-98DE-E2CDDF8BF871}"/>
              </a:ext>
            </a:extLst>
          </p:cNvPr>
          <p:cNvSpPr/>
          <p:nvPr/>
        </p:nvSpPr>
        <p:spPr>
          <a:xfrm>
            <a:off x="2498911" y="161364"/>
            <a:ext cx="7194177" cy="57822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BONE SIP INVESTMENT ASSITANT</a:t>
            </a:r>
            <a:endParaRPr lang="en-IN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2403412-A867-4303-AC7F-F524C47D992C}"/>
              </a:ext>
            </a:extLst>
          </p:cNvPr>
          <p:cNvSpPr/>
          <p:nvPr/>
        </p:nvSpPr>
        <p:spPr>
          <a:xfrm>
            <a:off x="253253" y="1479176"/>
            <a:ext cx="7194177" cy="2554942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7-Day Bone Health Meal Plan</a:t>
            </a:r>
          </a:p>
          <a:p>
            <a:endParaRPr lang="en-US" dirty="0"/>
          </a:p>
          <a:p>
            <a:r>
              <a:rPr lang="en-US" dirty="0"/>
              <a:t>AI BONE SIP REMINDER ENGINE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WhatsApp/Email reminders: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👉 Today's Bone SIP: "Have you completed your 20-minute walk?“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👉 Today's Bone SIP: "Did you include a protein source in breakfast?"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126140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447</TotalTime>
  <Words>1659</Words>
  <Application>Microsoft Office PowerPoint</Application>
  <PresentationFormat>Widescreen</PresentationFormat>
  <Paragraphs>347</Paragraphs>
  <Slides>14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Calibri Light</vt:lpstr>
      <vt:lpstr>Cambria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BONE SIP</dc:title>
  <dc:creator>Anjali Singh</dc:creator>
  <cp:lastModifiedBy>Anjali Singh</cp:lastModifiedBy>
  <cp:revision>25</cp:revision>
  <dcterms:created xsi:type="dcterms:W3CDTF">2026-09-22T05:22:44Z</dcterms:created>
  <dcterms:modified xsi:type="dcterms:W3CDTF">2026-09-25T05:48:43Z</dcterms:modified>
</cp:coreProperties>
</file>